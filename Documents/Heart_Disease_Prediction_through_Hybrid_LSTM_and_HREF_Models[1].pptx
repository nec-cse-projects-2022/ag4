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0" r:id="rId1"/>
  </p:sldMasterIdLst>
  <p:notesMasterIdLst>
    <p:notesMasterId r:id="rId34"/>
  </p:notesMasterIdLst>
  <p:sldIdLst>
    <p:sldId id="266" r:id="rId2"/>
    <p:sldId id="275" r:id="rId3"/>
    <p:sldId id="272" r:id="rId4"/>
    <p:sldId id="257" r:id="rId5"/>
    <p:sldId id="258" r:id="rId6"/>
    <p:sldId id="267" r:id="rId7"/>
    <p:sldId id="277" r:id="rId8"/>
    <p:sldId id="278" r:id="rId9"/>
    <p:sldId id="259" r:id="rId10"/>
    <p:sldId id="260" r:id="rId11"/>
    <p:sldId id="279" r:id="rId12"/>
    <p:sldId id="280" r:id="rId13"/>
    <p:sldId id="281" r:id="rId14"/>
    <p:sldId id="282" r:id="rId15"/>
    <p:sldId id="283" r:id="rId16"/>
    <p:sldId id="284" r:id="rId17"/>
    <p:sldId id="286" r:id="rId18"/>
    <p:sldId id="287" r:id="rId19"/>
    <p:sldId id="288" r:id="rId20"/>
    <p:sldId id="289" r:id="rId21"/>
    <p:sldId id="290" r:id="rId22"/>
    <p:sldId id="291" r:id="rId23"/>
    <p:sldId id="292" r:id="rId24"/>
    <p:sldId id="293" r:id="rId25"/>
    <p:sldId id="261" r:id="rId26"/>
    <p:sldId id="294" r:id="rId27"/>
    <p:sldId id="262" r:id="rId28"/>
    <p:sldId id="295" r:id="rId29"/>
    <p:sldId id="296" r:id="rId30"/>
    <p:sldId id="273" r:id="rId31"/>
    <p:sldId id="274" r:id="rId32"/>
    <p:sldId id="271"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B45C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55" autoAdjust="0"/>
    <p:restoredTop sz="94660"/>
  </p:normalViewPr>
  <p:slideViewPr>
    <p:cSldViewPr snapToGrid="0" snapToObjects="1">
      <p:cViewPr varScale="1">
        <p:scale>
          <a:sx n="78" d="100"/>
          <a:sy n="78" d="100"/>
        </p:scale>
        <p:origin x="1507"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296E9F-12DF-4ECB-8CA8-9F3DD1CEF5F4}" type="datetimeFigureOut">
              <a:rPr lang="en-IN" smtClean="0"/>
              <a:t>11-11-2025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36DA91-90C2-4B54-9830-9DEE56779C95}" type="slidenum">
              <a:rPr lang="en-IN" smtClean="0"/>
              <a:t>‹#›</a:t>
            </a:fld>
            <a:endParaRPr lang="en-IN"/>
          </a:p>
        </p:txBody>
      </p:sp>
    </p:spTree>
    <p:extLst>
      <p:ext uri="{BB962C8B-B14F-4D97-AF65-F5344CB8AC3E}">
        <p14:creationId xmlns:p14="http://schemas.microsoft.com/office/powerpoint/2010/main" val="3152820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136DA91-90C2-4B54-9830-9DEE56779C95}" type="slidenum">
              <a:rPr lang="en-IN" smtClean="0"/>
              <a:t>9</a:t>
            </a:fld>
            <a:endParaRPr lang="en-IN"/>
          </a:p>
        </p:txBody>
      </p:sp>
    </p:spTree>
    <p:extLst>
      <p:ext uri="{BB962C8B-B14F-4D97-AF65-F5344CB8AC3E}">
        <p14:creationId xmlns:p14="http://schemas.microsoft.com/office/powerpoint/2010/main" val="14963320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BCAD085-E8A6-8845-BD4E-CB4CCA059FC4}"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27172456"/>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BCAD085-E8A6-8845-BD4E-CB4CCA059FC4}"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10156382"/>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14724137"/>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BCAD085-E8A6-8845-BD4E-CB4CCA059FC4}"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92775081"/>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BCAD085-E8A6-8845-BD4E-CB4CCA059FC4}" type="datetimeFigureOut">
              <a:rPr lang="en-US" smtClean="0"/>
              <a:t>11/11/2025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27036218"/>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BCAD085-E8A6-8845-BD4E-CB4CCA059FC4}" type="datetimeFigureOut">
              <a:rPr lang="en-US" smtClean="0"/>
              <a:t>11/11/2025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60660831"/>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74468086"/>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23279608"/>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77216395"/>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BCAD085-E8A6-8845-BD4E-CB4CCA059FC4}"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49146181"/>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BCAD085-E8A6-8845-BD4E-CB4CCA059FC4}"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75467295"/>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BCAD085-E8A6-8845-BD4E-CB4CCA059FC4}" type="datetimeFigureOut">
              <a:rPr lang="en-US" smtClean="0"/>
              <a:t>11/11/2025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892581553"/>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Lst>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44129" y="1002889"/>
            <a:ext cx="8347587" cy="5643717"/>
          </a:xfrm>
        </p:spPr>
        <p:txBody>
          <a:bodyPr>
            <a:normAutofit/>
          </a:bodyPr>
          <a:lstStyle/>
          <a:p>
            <a:r>
              <a:rPr lang="en-IN" sz="2400" b="1" dirty="0">
                <a:latin typeface="Times New Roman" panose="02020603050405020304" pitchFamily="18" charset="0"/>
                <a:cs typeface="Times New Roman" panose="02020603050405020304" pitchFamily="18" charset="0"/>
              </a:rPr>
              <a:t>Department of Computer Science and Engineering</a:t>
            </a:r>
            <a:endParaRPr lang="en-GB" sz="2400" b="1" spc="-1" dirty="0">
              <a:solidFill>
                <a:srgbClr val="222222"/>
              </a:solidFill>
              <a:latin typeface="Times New Roman" panose="02020603050405020304" pitchFamily="18" charset="0"/>
              <a:cs typeface="Times New Roman" panose="02020603050405020304" pitchFamily="18" charset="0"/>
            </a:endParaRPr>
          </a:p>
          <a:p>
            <a:r>
              <a:rPr lang="en-GB" sz="2400" b="1" spc="-1" dirty="0">
                <a:solidFill>
                  <a:srgbClr val="FF0000"/>
                </a:solidFill>
                <a:latin typeface="Times New Roman" panose="02020603050405020304" pitchFamily="18" charset="0"/>
                <a:cs typeface="Times New Roman" panose="02020603050405020304" pitchFamily="18" charset="0"/>
              </a:rPr>
              <a:t>Heart Disease Prediction through Hybrid  LSTM and HREF Models</a:t>
            </a:r>
            <a:br>
              <a:rPr lang="en-GB" b="1" dirty="0"/>
            </a:br>
            <a:endParaRPr lang="en-GB" b="1" dirty="0"/>
          </a:p>
          <a:p>
            <a:r>
              <a:rPr lang="en-GB" b="1" spc="-1" dirty="0">
                <a:solidFill>
                  <a:srgbClr val="4C4C4C"/>
                </a:solidFill>
                <a:latin typeface="Arial"/>
              </a:rPr>
              <a:t>PRESENTED BY</a:t>
            </a:r>
          </a:p>
          <a:p>
            <a:pPr algn="l"/>
            <a:r>
              <a:rPr lang="en-GB" sz="2400" b="1" spc="-1" dirty="0">
                <a:solidFill>
                  <a:srgbClr val="4C4C4C"/>
                </a:solidFill>
                <a:latin typeface="Arial"/>
              </a:rPr>
              <a:t>             </a:t>
            </a:r>
            <a:r>
              <a:rPr lang="en-GB" sz="2400" spc="-1" dirty="0">
                <a:solidFill>
                  <a:srgbClr val="4C4C4C"/>
                </a:solidFill>
                <a:latin typeface="Times New Roman" panose="02020603050405020304" pitchFamily="18" charset="0"/>
                <a:cs typeface="Times New Roman" panose="02020603050405020304" pitchFamily="18" charset="0"/>
              </a:rPr>
              <a:t>Srilakshmi Mutyam                22471A0541</a:t>
            </a:r>
          </a:p>
          <a:p>
            <a:pPr algn="l"/>
            <a:r>
              <a:rPr lang="en-GB" sz="2400" spc="-1" dirty="0">
                <a:solidFill>
                  <a:srgbClr val="4C4C4C"/>
                </a:solidFill>
                <a:latin typeface="Times New Roman" panose="02020603050405020304" pitchFamily="18" charset="0"/>
                <a:cs typeface="Times New Roman" panose="02020603050405020304" pitchFamily="18" charset="0"/>
              </a:rPr>
              <a:t>              Durga Vyshnavi Grandhisila   22471A0524</a:t>
            </a:r>
          </a:p>
          <a:p>
            <a:pPr algn="l"/>
            <a:r>
              <a:rPr lang="en-GB" sz="2400" spc="-1" dirty="0">
                <a:solidFill>
                  <a:srgbClr val="4C4C4C"/>
                </a:solidFill>
                <a:latin typeface="Times New Roman" panose="02020603050405020304" pitchFamily="18" charset="0"/>
                <a:cs typeface="Times New Roman" panose="02020603050405020304" pitchFamily="18" charset="0"/>
              </a:rPr>
              <a:t>              Rabia Basri Shaik Kagaji        22471A0550</a:t>
            </a:r>
          </a:p>
          <a:p>
            <a:r>
              <a:rPr lang="en-IN" sz="2400" dirty="0">
                <a:solidFill>
                  <a:srgbClr val="00B050"/>
                </a:solidFill>
                <a:latin typeface="Times New Roman" panose="02020603050405020304" pitchFamily="18" charset="0"/>
                <a:cs typeface="Times New Roman" panose="02020603050405020304" pitchFamily="18" charset="0"/>
              </a:rPr>
              <a:t>Under the Guidance of,</a:t>
            </a:r>
          </a:p>
          <a:p>
            <a:r>
              <a:rPr lang="en-IN" sz="2400" dirty="0">
                <a:latin typeface="Times New Roman" panose="02020603050405020304" pitchFamily="18" charset="0"/>
                <a:cs typeface="Times New Roman" panose="02020603050405020304" pitchFamily="18" charset="0"/>
              </a:rPr>
              <a:t>Dr. Sireesha Moturi,</a:t>
            </a:r>
            <a:r>
              <a:rPr lang="en-IN" sz="2400" b="1" dirty="0">
                <a:latin typeface="Times New Roman" panose="02020603050405020304" pitchFamily="18" charset="0"/>
                <a:cs typeface="Times New Roman" panose="02020603050405020304" pitchFamily="18" charset="0"/>
              </a:rPr>
              <a:t> </a:t>
            </a:r>
            <a:r>
              <a:rPr lang="en-IN" sz="1100" b="1" dirty="0">
                <a:latin typeface="Times New Roman" panose="02020603050405020304" pitchFamily="18" charset="0"/>
                <a:cs typeface="Times New Roman" panose="02020603050405020304" pitchFamily="18" charset="0"/>
              </a:rPr>
              <a:t>M.Tech.,Ph.D.,</a:t>
            </a:r>
          </a:p>
          <a:p>
            <a:r>
              <a:rPr lang="en-IN" sz="2400" dirty="0">
                <a:latin typeface="Times New Roman" panose="02020603050405020304" pitchFamily="18" charset="0"/>
                <a:cs typeface="Times New Roman" panose="02020603050405020304" pitchFamily="18" charset="0"/>
              </a:rPr>
              <a:t>ASSOC.PROFESSOR</a:t>
            </a:r>
          </a:p>
          <a:p>
            <a:r>
              <a:rPr lang="en-IN" sz="2400" dirty="0">
                <a:latin typeface="Times New Roman" panose="02020603050405020304" pitchFamily="18" charset="0"/>
                <a:cs typeface="Times New Roman" panose="02020603050405020304" pitchFamily="18" charset="0"/>
              </a:rPr>
              <a:t>Department of Computer Science and Engineering,</a:t>
            </a:r>
          </a:p>
          <a:p>
            <a:r>
              <a:rPr lang="en-IN" sz="2400" dirty="0">
                <a:latin typeface="Times New Roman" panose="02020603050405020304" pitchFamily="18" charset="0"/>
                <a:cs typeface="Times New Roman" panose="02020603050405020304" pitchFamily="18" charset="0"/>
              </a:rPr>
              <a:t>Narasaraopet Engineering College (Autonomous),</a:t>
            </a:r>
            <a:endParaRPr lang="en-GB" sz="2400" spc="-1" dirty="0">
              <a:solidFill>
                <a:srgbClr val="4C4C4C"/>
              </a:solidFill>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Narasaraopet- 522 601.</a:t>
            </a:r>
            <a:endParaRPr lang="en-GB" b="1" spc="-1" dirty="0">
              <a:solidFill>
                <a:srgbClr val="4C4C4C"/>
              </a:solidFill>
              <a:latin typeface="Arial"/>
            </a:endParaRPr>
          </a:p>
          <a:p>
            <a:endParaRPr lang="en-GB" b="1" spc="-1" dirty="0">
              <a:solidFill>
                <a:srgbClr val="4C4C4C"/>
              </a:solidFill>
              <a:latin typeface="Arial"/>
            </a:endParaRPr>
          </a:p>
          <a:p>
            <a:endParaRPr lang="en-US" dirty="0"/>
          </a:p>
        </p:txBody>
      </p:sp>
      <p:pic>
        <p:nvPicPr>
          <p:cNvPr id="8" name="Picture 7">
            <a:extLst>
              <a:ext uri="{FF2B5EF4-FFF2-40B4-BE49-F238E27FC236}">
                <a16:creationId xmlns:a16="http://schemas.microsoft.com/office/drawing/2014/main" id="{EF073E24-9742-B33A-EB47-EABCFB618F8C}"/>
              </a:ext>
            </a:extLst>
          </p:cNvPr>
          <p:cNvPicPr>
            <a:picLocks noChangeAspect="1"/>
          </p:cNvPicPr>
          <p:nvPr/>
        </p:nvPicPr>
        <p:blipFill>
          <a:blip r:embed="rId2"/>
          <a:stretch>
            <a:fillRect/>
          </a:stretch>
        </p:blipFill>
        <p:spPr>
          <a:xfrm>
            <a:off x="223325" y="374460"/>
            <a:ext cx="3761558" cy="566977"/>
          </a:xfrm>
          <a:prstGeom prst="rect">
            <a:avLst/>
          </a:prstGeom>
        </p:spPr>
      </p:pic>
    </p:spTree>
    <p:extLst>
      <p:ext uri="{BB962C8B-B14F-4D97-AF65-F5344CB8AC3E}">
        <p14:creationId xmlns:p14="http://schemas.microsoft.com/office/powerpoint/2010/main" val="1021033906"/>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FCFC6-9FEF-6DCD-4440-631A6A4EDDBA}"/>
              </a:ext>
            </a:extLst>
          </p:cNvPr>
          <p:cNvSpPr>
            <a:spLocks noGrp="1"/>
          </p:cNvSpPr>
          <p:nvPr>
            <p:ph type="title"/>
          </p:nvPr>
        </p:nvSpPr>
        <p:spPr>
          <a:xfrm>
            <a:off x="4129241" y="758417"/>
            <a:ext cx="1534447" cy="716422"/>
          </a:xfrm>
        </p:spPr>
        <p:txBody>
          <a:bodyPr>
            <a:normAutofit/>
          </a:bodyPr>
          <a:lstStyle/>
          <a:p>
            <a:r>
              <a:rPr lang="en-US" sz="2800" b="1" dirty="0">
                <a:latin typeface="Times New Roman" panose="02020603050405020304" pitchFamily="18" charset="0"/>
                <a:cs typeface="Times New Roman" panose="02020603050405020304" pitchFamily="18" charset="0"/>
              </a:rPr>
              <a:t>INDEX</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E683E56-64B3-73B1-2CF6-AE3C322BB8BD}"/>
              </a:ext>
            </a:extLst>
          </p:cNvPr>
          <p:cNvSpPr>
            <a:spLocks noGrp="1"/>
          </p:cNvSpPr>
          <p:nvPr>
            <p:ph idx="1"/>
          </p:nvPr>
        </p:nvSpPr>
        <p:spPr>
          <a:xfrm>
            <a:off x="628650" y="1573162"/>
            <a:ext cx="7886700" cy="4603802"/>
          </a:xfrm>
        </p:spPr>
        <p:txBody>
          <a:bodyPr/>
          <a:lstStyle/>
          <a:p>
            <a:r>
              <a:rPr lang="en-US" sz="2400" dirty="0">
                <a:latin typeface="Times New Roman" panose="02020603050405020304" pitchFamily="18" charset="0"/>
                <a:cs typeface="Times New Roman" panose="02020603050405020304" pitchFamily="18" charset="0"/>
              </a:rPr>
              <a:t>Abstract</a:t>
            </a:r>
          </a:p>
          <a:p>
            <a:r>
              <a:rPr lang="en-US" sz="2400" dirty="0">
                <a:latin typeface="Times New Roman" panose="02020603050405020304" pitchFamily="18" charset="0"/>
                <a:cs typeface="Times New Roman" panose="02020603050405020304" pitchFamily="18" charset="0"/>
              </a:rPr>
              <a:t>Introduction</a:t>
            </a:r>
          </a:p>
          <a:p>
            <a:r>
              <a:rPr lang="en-US" sz="2400" dirty="0">
                <a:latin typeface="Times New Roman" panose="02020603050405020304" pitchFamily="18" charset="0"/>
                <a:cs typeface="Times New Roman" panose="02020603050405020304" pitchFamily="18" charset="0"/>
              </a:rPr>
              <a:t>Literature Survey</a:t>
            </a:r>
          </a:p>
          <a:p>
            <a:r>
              <a:rPr lang="en-US" sz="2400" dirty="0">
                <a:latin typeface="Times New Roman" panose="02020603050405020304" pitchFamily="18" charset="0"/>
                <a:cs typeface="Times New Roman" panose="02020603050405020304" pitchFamily="18" charset="0"/>
              </a:rPr>
              <a:t>Research Gaps</a:t>
            </a:r>
          </a:p>
          <a:p>
            <a:r>
              <a:rPr lang="en-US" sz="2400" dirty="0">
                <a:latin typeface="Times New Roman" panose="02020603050405020304" pitchFamily="18" charset="0"/>
                <a:cs typeface="Times New Roman" panose="02020603050405020304" pitchFamily="18" charset="0"/>
              </a:rPr>
              <a:t>Block diagram / Flow diagram</a:t>
            </a:r>
          </a:p>
          <a:p>
            <a:r>
              <a:rPr lang="en-US" sz="2400" dirty="0">
                <a:latin typeface="Times New Roman" panose="02020603050405020304" pitchFamily="18" charset="0"/>
                <a:cs typeface="Times New Roman" panose="02020603050405020304" pitchFamily="18" charset="0"/>
              </a:rPr>
              <a:t>Methodology</a:t>
            </a:r>
          </a:p>
          <a:p>
            <a:r>
              <a:rPr lang="en-US" sz="2400" dirty="0">
                <a:latin typeface="Times New Roman" panose="02020603050405020304" pitchFamily="18" charset="0"/>
                <a:cs typeface="Times New Roman" panose="02020603050405020304" pitchFamily="18" charset="0"/>
              </a:rPr>
              <a:t>Results &amp; Analysis</a:t>
            </a:r>
          </a:p>
          <a:p>
            <a:r>
              <a:rPr lang="en-US" sz="2400" dirty="0">
                <a:latin typeface="Times New Roman" panose="02020603050405020304" pitchFamily="18" charset="0"/>
                <a:cs typeface="Times New Roman" panose="02020603050405020304" pitchFamily="18" charset="0"/>
              </a:rPr>
              <a:t>Conclusion &amp; Future Scope</a:t>
            </a:r>
          </a:p>
          <a:p>
            <a:r>
              <a:rPr lang="en-US" sz="2400" dirty="0">
                <a:latin typeface="Times New Roman" panose="02020603050405020304" pitchFamily="18" charset="0"/>
                <a:cs typeface="Times New Roman" panose="02020603050405020304" pitchFamily="18" charset="0"/>
              </a:rPr>
              <a:t>References</a:t>
            </a:r>
          </a:p>
          <a:p>
            <a:endParaRPr lang="en-US" dirty="0"/>
          </a:p>
          <a:p>
            <a:endParaRPr lang="en-US" dirty="0"/>
          </a:p>
          <a:p>
            <a:endParaRPr lang="en-US" dirty="0"/>
          </a:p>
          <a:p>
            <a:endParaRPr lang="en-IN" dirty="0"/>
          </a:p>
        </p:txBody>
      </p:sp>
      <p:pic>
        <p:nvPicPr>
          <p:cNvPr id="4" name="Picture 3">
            <a:extLst>
              <a:ext uri="{FF2B5EF4-FFF2-40B4-BE49-F238E27FC236}">
                <a16:creationId xmlns:a16="http://schemas.microsoft.com/office/drawing/2014/main" id="{AAC3D683-BE64-6794-F0EA-6A337FF33E0E}"/>
              </a:ext>
            </a:extLst>
          </p:cNvPr>
          <p:cNvPicPr>
            <a:picLocks noChangeAspect="1"/>
          </p:cNvPicPr>
          <p:nvPr/>
        </p:nvPicPr>
        <p:blipFill>
          <a:blip r:embed="rId2"/>
          <a:stretch>
            <a:fillRect/>
          </a:stretch>
        </p:blipFill>
        <p:spPr>
          <a:xfrm>
            <a:off x="134834" y="308094"/>
            <a:ext cx="3761558" cy="566977"/>
          </a:xfrm>
          <a:prstGeom prst="rect">
            <a:avLst/>
          </a:prstGeom>
        </p:spPr>
      </p:pic>
    </p:spTree>
    <p:extLst>
      <p:ext uri="{BB962C8B-B14F-4D97-AF65-F5344CB8AC3E}">
        <p14:creationId xmlns:p14="http://schemas.microsoft.com/office/powerpoint/2010/main" val="3625482119"/>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138B8-5A39-56C2-6B8A-A9C757DE5EB3}"/>
              </a:ext>
            </a:extLst>
          </p:cNvPr>
          <p:cNvSpPr>
            <a:spLocks noGrp="1"/>
          </p:cNvSpPr>
          <p:nvPr>
            <p:ph type="title"/>
          </p:nvPr>
        </p:nvSpPr>
        <p:spPr>
          <a:xfrm>
            <a:off x="3598607" y="865239"/>
            <a:ext cx="2536723" cy="500113"/>
          </a:xfrm>
        </p:spPr>
        <p:txBody>
          <a:bodyPr>
            <a:normAutofit fontScale="90000"/>
          </a:bodyPr>
          <a:lstStyle/>
          <a:p>
            <a:r>
              <a:rPr lang="en-US" sz="3600" b="1" dirty="0">
                <a:latin typeface="Times New Roman" panose="02020603050405020304" pitchFamily="18" charset="0"/>
                <a:cs typeface="Times New Roman" panose="02020603050405020304" pitchFamily="18" charset="0"/>
              </a:rPr>
              <a:t>ABSTRACT</a:t>
            </a:r>
            <a:endParaRPr lang="en-IN" dirty="0"/>
          </a:p>
        </p:txBody>
      </p:sp>
      <p:sp>
        <p:nvSpPr>
          <p:cNvPr id="3" name="Content Placeholder 2">
            <a:extLst>
              <a:ext uri="{FF2B5EF4-FFF2-40B4-BE49-F238E27FC236}">
                <a16:creationId xmlns:a16="http://schemas.microsoft.com/office/drawing/2014/main" id="{C5D3BED3-9FD1-A1EF-C8AD-2FAC10E227C3}"/>
              </a:ext>
            </a:extLst>
          </p:cNvPr>
          <p:cNvSpPr>
            <a:spLocks noGrp="1"/>
          </p:cNvSpPr>
          <p:nvPr>
            <p:ph idx="1"/>
          </p:nvPr>
        </p:nvSpPr>
        <p:spPr>
          <a:xfrm>
            <a:off x="628650" y="1432216"/>
            <a:ext cx="7886700" cy="5060658"/>
          </a:xfrm>
        </p:spPr>
        <p:txBody>
          <a:bodyPr>
            <a:normAutofit fontScale="92500" lnSpcReduction="10000"/>
          </a:bodyPr>
          <a:lstStyle/>
          <a:p>
            <a:pPr marL="0" indent="0" algn="just">
              <a:buNone/>
            </a:pPr>
            <a:r>
              <a:rPr lang="en-IN" sz="2400" dirty="0">
                <a:latin typeface="Times New Roman" panose="02020603050405020304" pitchFamily="18" charset="0"/>
                <a:cs typeface="Times New Roman" panose="02020603050405020304" pitchFamily="18" charset="0"/>
              </a:rPr>
              <a:t>Heart disease is a leading cause of global mortality and requires accurate early prediction. Traditional diagnosis methods may fail to capture hidden clinical patterns in patient data. Heart disease affects men, women, and all age groups differently — men are more prone at a younger age due to stress, smoking, and genetic factors; women face higher risk after menopause because of hormonal changes; and the risk increases with age for everyone as arteries stiffen and metabolism slows. This project proposes a Hybrid BiLSTM + HREF model for improving prediction accuracy. The Cleveland heart disease dataset (303 samples, 14 features) is used for model training. Preprocessing includes outlier removal, normalization, imputation, and SMOTEENN balancing. BiLSTM captures nonlinear feature dependencies, while HREF refines predictions using ensemble learning. The proposed model achieves 94.7% accuracy and 0.9474 ROC-AUC, outperforming baseline models. Results show that the hybrid framework is reliable for early heart disease detection and clinical decision support.</a:t>
            </a:r>
          </a:p>
          <a:p>
            <a:pPr marL="0" indent="0" algn="just">
              <a:buNone/>
            </a:pP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AF33401-B46A-CF8C-1F98-23897D5A0D3E}"/>
              </a:ext>
            </a:extLst>
          </p:cNvPr>
          <p:cNvPicPr>
            <a:picLocks noChangeAspect="1"/>
          </p:cNvPicPr>
          <p:nvPr/>
        </p:nvPicPr>
        <p:blipFill>
          <a:blip r:embed="rId2"/>
          <a:stretch>
            <a:fillRect/>
          </a:stretch>
        </p:blipFill>
        <p:spPr>
          <a:xfrm>
            <a:off x="115170" y="298262"/>
            <a:ext cx="3761558" cy="566977"/>
          </a:xfrm>
          <a:prstGeom prst="rect">
            <a:avLst/>
          </a:prstGeom>
        </p:spPr>
      </p:pic>
    </p:spTree>
    <p:extLst>
      <p:ext uri="{BB962C8B-B14F-4D97-AF65-F5344CB8AC3E}">
        <p14:creationId xmlns:p14="http://schemas.microsoft.com/office/powerpoint/2010/main" val="2971316740"/>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79290" y="833781"/>
            <a:ext cx="3943350" cy="562402"/>
          </a:xfrm>
        </p:spPr>
        <p:txBody>
          <a:bodyPr>
            <a:normAutofit/>
          </a:bodyPr>
          <a:lstStyle/>
          <a:p>
            <a:pPr>
              <a:defRPr sz="3600" b="1">
                <a:solidFill>
                  <a:srgbClr val="19377D"/>
                </a:solidFill>
              </a:defRPr>
            </a:pPr>
            <a:r>
              <a:rPr lang="en-US" sz="2800" b="1" dirty="0">
                <a:solidFill>
                  <a:schemeClr val="tx1">
                    <a:lumMod val="95000"/>
                    <a:lumOff val="5000"/>
                  </a:schemeClr>
                </a:solidFill>
                <a:latin typeface="Times New Roman" panose="02020603050405020304" pitchFamily="18" charset="0"/>
                <a:cs typeface="Times New Roman" panose="02020603050405020304" pitchFamily="18" charset="0"/>
              </a:rPr>
              <a:t>INTRODUCTION</a:t>
            </a:r>
            <a:endParaRPr sz="2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98090" y="1759974"/>
            <a:ext cx="7757652" cy="4414684"/>
          </a:xfrm>
        </p:spPr>
        <p:txBody>
          <a:bodyPr>
            <a:normAutofit/>
          </a:bodyPr>
          <a:lstStyle/>
          <a:p>
            <a:pPr>
              <a:defRPr sz="2000">
                <a:solidFill>
                  <a:srgbClr val="1E1E1E"/>
                </a:solidFill>
              </a:defRPr>
            </a:pPr>
            <a:r>
              <a:rPr lang="en-US" sz="2400" dirty="0">
                <a:latin typeface="Times New Roman" panose="02020603050405020304" pitchFamily="18" charset="0"/>
                <a:cs typeface="Times New Roman" panose="02020603050405020304" pitchFamily="18" charset="0"/>
              </a:rPr>
              <a:t>Cardiovascular diseases (CVDs) are the leading global cause of death (~17.9 million annually).</a:t>
            </a:r>
          </a:p>
          <a:p>
            <a:pPr>
              <a:defRPr sz="2000">
                <a:solidFill>
                  <a:srgbClr val="1E1E1E"/>
                </a:solidFill>
              </a:defRPr>
            </a:pPr>
            <a:r>
              <a:rPr lang="en-US" sz="2400" dirty="0">
                <a:latin typeface="Times New Roman" panose="02020603050405020304" pitchFamily="18" charset="0"/>
                <a:cs typeface="Times New Roman" panose="02020603050405020304" pitchFamily="18" charset="0"/>
              </a:rPr>
              <a:t>Early and accurate diagnosis reduces mortality and improves patient outcomes.</a:t>
            </a:r>
          </a:p>
          <a:p>
            <a:pPr>
              <a:defRPr sz="2000">
                <a:solidFill>
                  <a:srgbClr val="1E1E1E"/>
                </a:solidFill>
              </a:defRPr>
            </a:pPr>
            <a:r>
              <a:rPr lang="en-US" sz="2400" dirty="0">
                <a:latin typeface="Times New Roman" panose="02020603050405020304" pitchFamily="18" charset="0"/>
                <a:cs typeface="Times New Roman" panose="02020603050405020304" pitchFamily="18" charset="0"/>
              </a:rPr>
              <a:t>Traditional diagnostic methods are subjective and limited.</a:t>
            </a:r>
          </a:p>
          <a:p>
            <a:pPr>
              <a:defRPr sz="2000">
                <a:solidFill>
                  <a:srgbClr val="1E1E1E"/>
                </a:solidFill>
              </a:defRPr>
            </a:pPr>
            <a:r>
              <a:rPr lang="en-US" sz="2400" b="1" dirty="0">
                <a:latin typeface="Times New Roman" panose="02020603050405020304" pitchFamily="18" charset="0"/>
                <a:cs typeface="Times New Roman" panose="02020603050405020304" pitchFamily="18" charset="0"/>
              </a:rPr>
              <a:t>Deep Learning (DL)</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Machine Learning (ML)</a:t>
            </a:r>
            <a:r>
              <a:rPr lang="en-US" sz="2400" dirty="0">
                <a:latin typeface="Times New Roman" panose="02020603050405020304" pitchFamily="18" charset="0"/>
                <a:cs typeface="Times New Roman" panose="02020603050405020304" pitchFamily="18" charset="0"/>
              </a:rPr>
              <a:t> techniques can identify complex, hidden patterns in medical data.</a:t>
            </a:r>
          </a:p>
          <a:p>
            <a:pPr>
              <a:defRPr sz="2000">
                <a:solidFill>
                  <a:srgbClr val="1E1E1E"/>
                </a:solidFill>
              </a:defRPr>
            </a:pPr>
            <a:r>
              <a:rPr lang="en-US" sz="2400" dirty="0">
                <a:latin typeface="Times New Roman" panose="02020603050405020304" pitchFamily="18" charset="0"/>
                <a:cs typeface="Times New Roman" panose="02020603050405020304" pitchFamily="18" charset="0"/>
              </a:rPr>
              <a:t>The proposed research introduces a </a:t>
            </a:r>
            <a:r>
              <a:rPr lang="en-US" sz="2400" b="1" dirty="0">
                <a:latin typeface="Times New Roman" panose="02020603050405020304" pitchFamily="18" charset="0"/>
                <a:cs typeface="Times New Roman" panose="02020603050405020304" pitchFamily="18" charset="0"/>
              </a:rPr>
              <a:t>Hybrid BiLSTM + HREF model</a:t>
            </a:r>
            <a:r>
              <a:rPr lang="en-US" sz="2400" dirty="0">
                <a:latin typeface="Times New Roman" panose="02020603050405020304" pitchFamily="18" charset="0"/>
                <a:cs typeface="Times New Roman" panose="02020603050405020304" pitchFamily="18" charset="0"/>
              </a:rPr>
              <a:t> for precise heart disease prediction using the </a:t>
            </a:r>
            <a:r>
              <a:rPr lang="en-US" sz="2400" b="1" dirty="0">
                <a:latin typeface="Times New Roman" panose="02020603050405020304" pitchFamily="18" charset="0"/>
                <a:cs typeface="Times New Roman" panose="02020603050405020304" pitchFamily="18" charset="0"/>
              </a:rPr>
              <a:t>Cleveland dataset</a:t>
            </a:r>
            <a:r>
              <a:rPr lang="en-US" sz="240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EE8F55B-66E8-F6D6-CE02-91735A06FBB8}"/>
              </a:ext>
            </a:extLst>
          </p:cNvPr>
          <p:cNvPicPr>
            <a:picLocks noChangeAspect="1"/>
          </p:cNvPicPr>
          <p:nvPr/>
        </p:nvPicPr>
        <p:blipFill>
          <a:blip r:embed="rId2"/>
          <a:stretch>
            <a:fillRect/>
          </a:stretch>
        </p:blipFill>
        <p:spPr>
          <a:xfrm>
            <a:off x="331479" y="266803"/>
            <a:ext cx="3761558" cy="56697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10347" y="678427"/>
            <a:ext cx="4178711" cy="486962"/>
          </a:xfrm>
        </p:spPr>
        <p:txBody>
          <a:bodyPr>
            <a:normAutofit/>
          </a:bodyPr>
          <a:lstStyle/>
          <a:p>
            <a:pPr>
              <a:defRPr sz="3600" b="1">
                <a:solidFill>
                  <a:srgbClr val="19377D"/>
                </a:solidFill>
              </a:defRPr>
            </a:pPr>
            <a:r>
              <a:rPr lang="en-US" sz="2800" b="1" dirty="0">
                <a:solidFill>
                  <a:schemeClr val="tx1">
                    <a:lumMod val="95000"/>
                    <a:lumOff val="5000"/>
                  </a:schemeClr>
                </a:solidFill>
                <a:latin typeface="Times New Roman" panose="02020603050405020304" pitchFamily="18" charset="0"/>
                <a:cs typeface="Times New Roman" panose="02020603050405020304" pitchFamily="18" charset="0"/>
              </a:rPr>
              <a:t>LITERATURE SURVEY</a:t>
            </a:r>
            <a:endParaRPr sz="2800" dirty="0">
              <a:solidFill>
                <a:schemeClr val="tx1">
                  <a:lumMod val="95000"/>
                  <a:lumOff val="5000"/>
                </a:schemeClr>
              </a:solidFill>
            </a:endParaRPr>
          </a:p>
        </p:txBody>
      </p:sp>
      <p:sp>
        <p:nvSpPr>
          <p:cNvPr id="4" name="Rectangle 1">
            <a:extLst>
              <a:ext uri="{FF2B5EF4-FFF2-40B4-BE49-F238E27FC236}">
                <a16:creationId xmlns:a16="http://schemas.microsoft.com/office/drawing/2014/main" id="{F80A08F2-5916-DA33-272D-07EB5163DA15}"/>
              </a:ext>
            </a:extLst>
          </p:cNvPr>
          <p:cNvSpPr>
            <a:spLocks noGrp="1" noChangeArrowheads="1"/>
          </p:cNvSpPr>
          <p:nvPr>
            <p:ph idx="1"/>
          </p:nvPr>
        </p:nvSpPr>
        <p:spPr bwMode="auto">
          <a:xfrm>
            <a:off x="639096" y="1165389"/>
            <a:ext cx="7914969" cy="5156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r>
              <a:rPr lang="en-US" sz="2400" dirty="0">
                <a:latin typeface="Times New Roman" panose="02020603050405020304" pitchFamily="18" charset="0"/>
                <a:cs typeface="Times New Roman" panose="02020603050405020304" pitchFamily="18" charset="0"/>
              </a:rPr>
              <a:t>Alghamdi et al. (2024) proposed a hybrid Autoencoder- </a:t>
            </a:r>
            <a:r>
              <a:rPr lang="en-US" sz="2400" dirty="0" err="1">
                <a:latin typeface="Times New Roman" panose="02020603050405020304" pitchFamily="18" charset="0"/>
                <a:cs typeface="Times New Roman" panose="02020603050405020304" pitchFamily="18" charset="0"/>
              </a:rPr>
              <a:t>DenseNet</a:t>
            </a:r>
            <a:r>
              <a:rPr lang="en-US" sz="2400" dirty="0">
                <a:latin typeface="Times New Roman" panose="02020603050405020304" pitchFamily="18" charset="0"/>
                <a:cs typeface="Times New Roman" panose="02020603050405020304" pitchFamily="18" charset="0"/>
              </a:rPr>
              <a:t> model for heart disease prediction and achieved improved feature learning.</a:t>
            </a:r>
          </a:p>
          <a:p>
            <a:pPr marL="342900" indent="-342900"/>
            <a:r>
              <a:rPr lang="en-US" sz="2400" dirty="0">
                <a:latin typeface="Times New Roman" panose="02020603050405020304" pitchFamily="18" charset="0"/>
                <a:cs typeface="Times New Roman" panose="02020603050405020304" pitchFamily="18" charset="0"/>
              </a:rPr>
              <a:t>Gabriel &amp; Anbarasi (2024) optimized LightGBM with feature selection. Showing higher accuracy in clinical datasets.</a:t>
            </a:r>
          </a:p>
          <a:p>
            <a:pPr marL="342900" indent="-342900"/>
            <a:r>
              <a:rPr lang="en-US" sz="2400" dirty="0">
                <a:latin typeface="Times New Roman" panose="02020603050405020304" pitchFamily="18" charset="0"/>
                <a:cs typeface="Times New Roman" panose="02020603050405020304" pitchFamily="18" charset="0"/>
              </a:rPr>
              <a:t> Boquete et al. (2024) used machine learning with feature engineering to enhance early heart disease detection.</a:t>
            </a:r>
          </a:p>
          <a:p>
            <a:pPr marL="342900" indent="-342900"/>
            <a:r>
              <a:rPr lang="en-US" sz="2400" dirty="0">
                <a:latin typeface="Times New Roman" panose="02020603050405020304" pitchFamily="18" charset="0"/>
                <a:cs typeface="Times New Roman" panose="02020603050405020304" pitchFamily="18" charset="0"/>
              </a:rPr>
              <a:t>Narasimhan &amp; Victor (2025) implemented Genetic Algorithm-optimized Random Forest for better classifier performance.</a:t>
            </a:r>
          </a:p>
          <a:p>
            <a:pPr marL="342900" indent="-342900"/>
            <a:r>
              <a:rPr lang="en-US" sz="2400" dirty="0">
                <a:latin typeface="Times New Roman" panose="02020603050405020304" pitchFamily="18" charset="0"/>
                <a:cs typeface="Times New Roman" panose="02020603050405020304" pitchFamily="18" charset="0"/>
              </a:rPr>
              <a:t>Teja &amp; Rayalu (2025) proved that ensemble models outperform individual classifiers in heart disease classification tasks.</a:t>
            </a:r>
          </a:p>
        </p:txBody>
      </p:sp>
      <p:pic>
        <p:nvPicPr>
          <p:cNvPr id="3" name="Picture 2">
            <a:extLst>
              <a:ext uri="{FF2B5EF4-FFF2-40B4-BE49-F238E27FC236}">
                <a16:creationId xmlns:a16="http://schemas.microsoft.com/office/drawing/2014/main" id="{05568119-E8FC-343E-43E7-7FF1E62E3690}"/>
              </a:ext>
            </a:extLst>
          </p:cNvPr>
          <p:cNvPicPr>
            <a:picLocks noChangeAspect="1"/>
          </p:cNvPicPr>
          <p:nvPr/>
        </p:nvPicPr>
        <p:blipFill>
          <a:blip r:embed="rId2"/>
          <a:stretch>
            <a:fillRect/>
          </a:stretch>
        </p:blipFill>
        <p:spPr>
          <a:xfrm>
            <a:off x="174163" y="216308"/>
            <a:ext cx="3761558" cy="56697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79173" y="846454"/>
            <a:ext cx="3165987" cy="566977"/>
          </a:xfrm>
        </p:spPr>
        <p:txBody>
          <a:bodyPr>
            <a:normAutofit fontScale="90000"/>
          </a:bodyPr>
          <a:lstStyle/>
          <a:p>
            <a:r>
              <a:rPr lang="en-IN" sz="2800" b="1" dirty="0">
                <a:latin typeface="Times New Roman" panose="02020603050405020304" pitchFamily="18" charset="0"/>
                <a:cs typeface="Times New Roman" panose="02020603050405020304" pitchFamily="18" charset="0"/>
              </a:rPr>
              <a:t>RESEARCH GAPS</a:t>
            </a:r>
            <a:endParaRPr lang="en-IN" sz="28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4B6D25E-F38F-8A5F-275C-A2A0CEBDCCA6}"/>
              </a:ext>
            </a:extLst>
          </p:cNvPr>
          <p:cNvSpPr>
            <a:spLocks noGrp="1"/>
          </p:cNvSpPr>
          <p:nvPr>
            <p:ph idx="1"/>
          </p:nvPr>
        </p:nvSpPr>
        <p:spPr>
          <a:xfrm>
            <a:off x="609599" y="1337187"/>
            <a:ext cx="7905136" cy="5520813"/>
          </a:xfrm>
        </p:spPr>
        <p:txBody>
          <a:bodyPr>
            <a:noAutofit/>
          </a:bodyPr>
          <a:lstStyle/>
          <a:p>
            <a:r>
              <a:rPr lang="en-US" sz="2400" dirty="0">
                <a:latin typeface="Times New Roman" panose="02020603050405020304" pitchFamily="18" charset="0"/>
                <a:cs typeface="Times New Roman" panose="02020603050405020304" pitchFamily="18" charset="0"/>
              </a:rPr>
              <a:t>Existing ML and DL models struggle to handle class imbalance, leading to biased predictions.</a:t>
            </a:r>
          </a:p>
          <a:p>
            <a:r>
              <a:rPr lang="en-US" sz="2400" dirty="0">
                <a:latin typeface="Times New Roman" panose="02020603050405020304" pitchFamily="18" charset="0"/>
                <a:cs typeface="Times New Roman" panose="02020603050405020304" pitchFamily="18" charset="0"/>
              </a:rPr>
              <a:t>Most previous works do not integrate BiLSTM with ensemble refinement, limiting performance .</a:t>
            </a:r>
          </a:p>
          <a:p>
            <a:r>
              <a:rPr lang="en-US" sz="2400" dirty="0">
                <a:latin typeface="Times New Roman" panose="02020603050405020304" pitchFamily="18" charset="0"/>
                <a:cs typeface="Times New Roman" panose="02020603050405020304" pitchFamily="18" charset="0"/>
              </a:rPr>
              <a:t>Lack of robust preprocessing pipelines involving outlier removal, normalization, and SMOTEENN.</a:t>
            </a:r>
          </a:p>
          <a:p>
            <a:r>
              <a:rPr lang="en-US" sz="2400" dirty="0">
                <a:latin typeface="Times New Roman" panose="02020603050405020304" pitchFamily="18" charset="0"/>
                <a:cs typeface="Times New Roman" panose="02020603050405020304" pitchFamily="18" charset="0"/>
              </a:rPr>
              <a:t>Many models fail to capture deep nonlinear feature dependencies in clinical datasets.</a:t>
            </a:r>
          </a:p>
          <a:p>
            <a:r>
              <a:rPr lang="en-US" sz="2400" dirty="0">
                <a:latin typeface="Times New Roman" panose="02020603050405020304" pitchFamily="18" charset="0"/>
                <a:cs typeface="Times New Roman" panose="02020603050405020304" pitchFamily="18" charset="0"/>
              </a:rPr>
              <a:t>Limited use of stacked meta-learning frameworks for improving model generalization.</a:t>
            </a:r>
          </a:p>
          <a:p>
            <a:r>
              <a:rPr lang="en-US" sz="2400" dirty="0">
                <a:latin typeface="Times New Roman" panose="02020603050405020304" pitchFamily="18" charset="0"/>
                <a:cs typeface="Times New Roman" panose="02020603050405020304" pitchFamily="18" charset="0"/>
              </a:rPr>
              <a:t>Insufficient research on combining deep learning + hybrid ensemble techniques for medical diagnosis.</a:t>
            </a:r>
          </a:p>
          <a:p>
            <a:r>
              <a:rPr lang="en-US" sz="2400" dirty="0">
                <a:latin typeface="Times New Roman" panose="02020603050405020304" pitchFamily="18" charset="0"/>
                <a:cs typeface="Times New Roman" panose="02020603050405020304" pitchFamily="18" charset="0"/>
              </a:rPr>
              <a:t>Need for a more accurate, stable, and clinically reliable prediction model.</a:t>
            </a:r>
            <a:endParaRPr lang="en-IN"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86A1166-DF86-89AC-47F3-F656115DC1BC}"/>
              </a:ext>
            </a:extLst>
          </p:cNvPr>
          <p:cNvPicPr>
            <a:picLocks noChangeAspect="1"/>
          </p:cNvPicPr>
          <p:nvPr/>
        </p:nvPicPr>
        <p:blipFill>
          <a:blip r:embed="rId2"/>
          <a:stretch>
            <a:fillRect/>
          </a:stretch>
        </p:blipFill>
        <p:spPr>
          <a:xfrm>
            <a:off x="190739" y="282771"/>
            <a:ext cx="3761558" cy="566977"/>
          </a:xfrm>
          <a:prstGeom prst="rect">
            <a:avLst/>
          </a:prstGeom>
        </p:spPr>
      </p:pic>
    </p:spTree>
    <p:extLst>
      <p:ext uri="{BB962C8B-B14F-4D97-AF65-F5344CB8AC3E}">
        <p14:creationId xmlns:p14="http://schemas.microsoft.com/office/powerpoint/2010/main" val="1502278191"/>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BD52A-9D96-673A-61A4-C3179C8707B3}"/>
              </a:ext>
            </a:extLst>
          </p:cNvPr>
          <p:cNvSpPr>
            <a:spLocks noGrp="1"/>
          </p:cNvSpPr>
          <p:nvPr>
            <p:ph type="title"/>
          </p:nvPr>
        </p:nvSpPr>
        <p:spPr>
          <a:xfrm>
            <a:off x="2556080" y="681037"/>
            <a:ext cx="4031840" cy="539442"/>
          </a:xfrm>
        </p:spPr>
        <p:txBody>
          <a:bodyPr>
            <a:normAutofit fontScale="90000"/>
          </a:bodyPr>
          <a:lstStyle/>
          <a:p>
            <a:pPr algn="just"/>
            <a:r>
              <a:rPr lang="en-US" sz="2800" b="1" dirty="0">
                <a:latin typeface="Times New Roman" panose="02020603050405020304" pitchFamily="18" charset="0"/>
                <a:cs typeface="Times New Roman" panose="02020603050405020304" pitchFamily="18" charset="0"/>
              </a:rPr>
              <a:t>PROBLEM STATEMENT</a:t>
            </a:r>
            <a:endParaRPr lang="en-IN" sz="28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5E3399F-E10C-856F-6EEA-190F47717766}"/>
              </a:ext>
            </a:extLst>
          </p:cNvPr>
          <p:cNvPicPr>
            <a:picLocks noChangeAspect="1"/>
          </p:cNvPicPr>
          <p:nvPr/>
        </p:nvPicPr>
        <p:blipFill>
          <a:blip r:embed="rId2"/>
          <a:stretch>
            <a:fillRect/>
          </a:stretch>
        </p:blipFill>
        <p:spPr>
          <a:xfrm>
            <a:off x="223324" y="114060"/>
            <a:ext cx="3761558" cy="566977"/>
          </a:xfrm>
          <a:prstGeom prst="rect">
            <a:avLst/>
          </a:prstGeom>
        </p:spPr>
      </p:pic>
      <p:sp>
        <p:nvSpPr>
          <p:cNvPr id="7" name="Content Placeholder 6">
            <a:extLst>
              <a:ext uri="{FF2B5EF4-FFF2-40B4-BE49-F238E27FC236}">
                <a16:creationId xmlns:a16="http://schemas.microsoft.com/office/drawing/2014/main" id="{55278AED-035F-87A2-A40C-A3135D05CC0A}"/>
              </a:ext>
            </a:extLst>
          </p:cNvPr>
          <p:cNvSpPr>
            <a:spLocks noGrp="1"/>
          </p:cNvSpPr>
          <p:nvPr>
            <p:ph idx="1"/>
          </p:nvPr>
        </p:nvSpPr>
        <p:spPr>
          <a:xfrm>
            <a:off x="628650" y="1248014"/>
            <a:ext cx="7886700" cy="4928949"/>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To develop a highly accurate and reliable hybrid BiLSTM–HREF model that overcomes data imbalance, captures complex clinical patterns, and improves early prediction of heart disease compared to existing machine learning approaches.</a:t>
            </a:r>
          </a:p>
          <a:p>
            <a:pPr algn="just"/>
            <a:r>
              <a:rPr lang="en-US" sz="2400" dirty="0">
                <a:latin typeface="Times New Roman" panose="02020603050405020304" pitchFamily="18" charset="0"/>
                <a:cs typeface="Times New Roman" panose="02020603050405020304" pitchFamily="18" charset="0"/>
              </a:rPr>
              <a:t>Early prediction of heart disease helps prevent severe complications and reduces mortality.</a:t>
            </a:r>
          </a:p>
          <a:p>
            <a:pPr algn="just"/>
            <a:r>
              <a:rPr lang="en-US" sz="2400" dirty="0">
                <a:latin typeface="Times New Roman" panose="02020603050405020304" pitchFamily="18" charset="0"/>
                <a:cs typeface="Times New Roman" panose="02020603050405020304" pitchFamily="18" charset="0"/>
              </a:rPr>
              <a:t>Accurate models support doctors in identifying high-risk patients at the right time.</a:t>
            </a:r>
          </a:p>
          <a:p>
            <a:pPr algn="just"/>
            <a:r>
              <a:rPr lang="en-US" sz="2400" dirty="0">
                <a:latin typeface="Times New Roman" panose="02020603050405020304" pitchFamily="18" charset="0"/>
                <a:cs typeface="Times New Roman" panose="02020603050405020304" pitchFamily="18" charset="0"/>
              </a:rPr>
              <a:t>Helps improve clinical decision-making through data-driven insights.</a:t>
            </a:r>
          </a:p>
          <a:p>
            <a:pPr algn="just"/>
            <a:r>
              <a:rPr lang="en-US" sz="2400" dirty="0">
                <a:latin typeface="Times New Roman" panose="02020603050405020304" pitchFamily="18" charset="0"/>
                <a:cs typeface="Times New Roman" panose="02020603050405020304" pitchFamily="18" charset="0"/>
              </a:rPr>
              <a:t>Contributes to developing reliable AI-based tools for real-world healthcare use.</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0286251"/>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BB5C1-978F-B108-3D91-C76DD4A1525C}"/>
              </a:ext>
            </a:extLst>
          </p:cNvPr>
          <p:cNvSpPr>
            <a:spLocks noGrp="1"/>
          </p:cNvSpPr>
          <p:nvPr>
            <p:ph type="title"/>
          </p:nvPr>
        </p:nvSpPr>
        <p:spPr>
          <a:xfrm>
            <a:off x="3224673" y="692148"/>
            <a:ext cx="2281698" cy="608268"/>
          </a:xfrm>
        </p:spPr>
        <p:txBody>
          <a:bodyPr>
            <a:normAutofit fontScale="90000"/>
          </a:bodyPr>
          <a:lstStyle/>
          <a:p>
            <a:pPr algn="just"/>
            <a:r>
              <a:rPr lang="en-US" sz="2800" b="1" dirty="0">
                <a:latin typeface="Times New Roman" panose="02020603050405020304" pitchFamily="18" charset="0"/>
                <a:cs typeface="Times New Roman" panose="02020603050405020304" pitchFamily="18" charset="0"/>
              </a:rPr>
              <a:t>OBJECTIVES</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FA5B6EF-FF9E-9430-378A-F314982BE7C3}"/>
              </a:ext>
            </a:extLst>
          </p:cNvPr>
          <p:cNvSpPr>
            <a:spLocks noGrp="1"/>
          </p:cNvSpPr>
          <p:nvPr>
            <p:ph idx="1"/>
          </p:nvPr>
        </p:nvSpPr>
        <p:spPr>
          <a:xfrm>
            <a:off x="628650" y="1300416"/>
            <a:ext cx="7886700" cy="4876547"/>
          </a:xfrm>
        </p:spPr>
        <p:txBody>
          <a:bodyPr>
            <a:normAutofit/>
          </a:bodyPr>
          <a:lstStyle/>
          <a:p>
            <a:pPr algn="just"/>
            <a:r>
              <a:rPr lang="en-US" sz="2400" dirty="0">
                <a:latin typeface="Times New Roman" panose="02020603050405020304" pitchFamily="18" charset="0"/>
                <a:cs typeface="Times New Roman" panose="02020603050405020304" pitchFamily="18" charset="0"/>
              </a:rPr>
              <a:t>To develop a Hybrid BiLSTM + HREF models for accurate heart disease prediction.</a:t>
            </a:r>
          </a:p>
          <a:p>
            <a:pPr algn="just"/>
            <a:r>
              <a:rPr lang="en-US" sz="2400" dirty="0">
                <a:latin typeface="Times New Roman" panose="02020603050405020304" pitchFamily="18" charset="0"/>
                <a:cs typeface="Times New Roman" panose="02020603050405020304" pitchFamily="18" charset="0"/>
              </a:rPr>
              <a:t>To apply strong </a:t>
            </a:r>
            <a:r>
              <a:rPr lang="en-US" sz="2400" b="1" dirty="0">
                <a:latin typeface="Times New Roman" panose="02020603050405020304" pitchFamily="18" charset="0"/>
                <a:cs typeface="Times New Roman" panose="02020603050405020304" pitchFamily="18" charset="0"/>
              </a:rPr>
              <a:t>data preprocessing</a:t>
            </a:r>
            <a:r>
              <a:rPr lang="en-US" sz="2400" dirty="0">
                <a:latin typeface="Times New Roman" panose="02020603050405020304" pitchFamily="18" charset="0"/>
                <a:cs typeface="Times New Roman" panose="02020603050405020304" pitchFamily="18" charset="0"/>
              </a:rPr>
              <a:t> (outlier removal, normalization, imputation, SMOTEENN) for clean and balanced data.</a:t>
            </a:r>
          </a:p>
          <a:p>
            <a:pPr algn="just"/>
            <a:r>
              <a:rPr lang="en-US" sz="2400" dirty="0">
                <a:latin typeface="Times New Roman" panose="02020603050405020304" pitchFamily="18" charset="0"/>
                <a:cs typeface="Times New Roman" panose="02020603050405020304" pitchFamily="18" charset="0"/>
              </a:rPr>
              <a:t>To enable BiLSTM to learn </a:t>
            </a:r>
            <a:r>
              <a:rPr lang="en-US" sz="2400" b="1" dirty="0">
                <a:latin typeface="Times New Roman" panose="02020603050405020304" pitchFamily="18" charset="0"/>
                <a:cs typeface="Times New Roman" panose="02020603050405020304" pitchFamily="18" charset="0"/>
              </a:rPr>
              <a:t>deep nonlinear relationships</a:t>
            </a:r>
            <a:r>
              <a:rPr lang="en-US" sz="2400" dirty="0">
                <a:latin typeface="Times New Roman" panose="02020603050405020304" pitchFamily="18" charset="0"/>
                <a:cs typeface="Times New Roman" panose="02020603050405020304" pitchFamily="18" charset="0"/>
              </a:rPr>
              <a:t> within clinical features.</a:t>
            </a:r>
          </a:p>
          <a:p>
            <a:pPr algn="just"/>
            <a:r>
              <a:rPr lang="en-US" sz="2400" dirty="0">
                <a:latin typeface="Times New Roman" panose="02020603050405020304" pitchFamily="18" charset="0"/>
                <a:cs typeface="Times New Roman" panose="02020603050405020304" pitchFamily="18" charset="0"/>
              </a:rPr>
              <a:t>To improve overall performance and generalization using the </a:t>
            </a:r>
            <a:r>
              <a:rPr lang="en-US" sz="2400" b="1" dirty="0">
                <a:latin typeface="Times New Roman" panose="02020603050405020304" pitchFamily="18" charset="0"/>
                <a:cs typeface="Times New Roman" panose="02020603050405020304" pitchFamily="18" charset="0"/>
              </a:rPr>
              <a:t>Hybrid Refined Ensemble Framework (HREF)</a:t>
            </a:r>
            <a:r>
              <a:rPr lang="en-US" sz="2400" dirty="0">
                <a:latin typeface="Times New Roman" panose="02020603050405020304" pitchFamily="18" charset="0"/>
                <a:cs typeface="Times New Roman" panose="02020603050405020304" pitchFamily="18" charset="0"/>
              </a:rPr>
              <a:t> and evaluate results using standard metrics.</a:t>
            </a:r>
          </a:p>
          <a:p>
            <a:pPr marL="0" indent="0" algn="just">
              <a:buNone/>
            </a:pPr>
            <a:br>
              <a:rPr lang="en-US" sz="2400" dirty="0"/>
            </a:b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CF8B8E7-8560-F44C-B5BE-BC13F0393738}"/>
              </a:ext>
            </a:extLst>
          </p:cNvPr>
          <p:cNvPicPr>
            <a:picLocks noChangeAspect="1"/>
          </p:cNvPicPr>
          <p:nvPr/>
        </p:nvPicPr>
        <p:blipFill>
          <a:blip r:embed="rId2"/>
          <a:stretch>
            <a:fillRect/>
          </a:stretch>
        </p:blipFill>
        <p:spPr>
          <a:xfrm>
            <a:off x="282318" y="114060"/>
            <a:ext cx="3761558" cy="566977"/>
          </a:xfrm>
          <a:prstGeom prst="rect">
            <a:avLst/>
          </a:prstGeom>
        </p:spPr>
      </p:pic>
    </p:spTree>
    <p:extLst>
      <p:ext uri="{BB962C8B-B14F-4D97-AF65-F5344CB8AC3E}">
        <p14:creationId xmlns:p14="http://schemas.microsoft.com/office/powerpoint/2010/main" val="535482811"/>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6851" y="755437"/>
            <a:ext cx="6656439" cy="566977"/>
          </a:xfrm>
        </p:spPr>
        <p:txBody>
          <a:bodyPr>
            <a:noAutofit/>
          </a:bodyPr>
          <a:lstStyle/>
          <a:p>
            <a:pPr>
              <a:defRPr sz="3600" b="1">
                <a:solidFill>
                  <a:srgbClr val="19377D"/>
                </a:solidFill>
              </a:defRPr>
            </a:pPr>
            <a:r>
              <a:rPr lang="en-IN" sz="2800" b="1" dirty="0">
                <a:solidFill>
                  <a:schemeClr val="tx1">
                    <a:lumMod val="95000"/>
                    <a:lumOff val="5000"/>
                  </a:schemeClr>
                </a:solidFill>
                <a:latin typeface="Times New Roman" panose="02020603050405020304" pitchFamily="18" charset="0"/>
                <a:cs typeface="Times New Roman" panose="02020603050405020304" pitchFamily="18" charset="0"/>
              </a:rPr>
              <a:t>BLOCK DIAGRAM / FLOW DIAGRAM</a:t>
            </a:r>
            <a:endParaRPr sz="2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9F52A3E6-C7FF-7345-9927-EFBCAEF046BD}"/>
              </a:ext>
            </a:extLst>
          </p:cNvPr>
          <p:cNvPicPr>
            <a:picLocks noGrp="1" noChangeAspect="1"/>
          </p:cNvPicPr>
          <p:nvPr>
            <p:ph idx="1"/>
          </p:nvPr>
        </p:nvPicPr>
        <p:blipFill>
          <a:blip r:embed="rId3"/>
          <a:stretch>
            <a:fillRect/>
          </a:stretch>
        </p:blipFill>
        <p:spPr bwMode="auto">
          <a:xfrm>
            <a:off x="2812026" y="1504335"/>
            <a:ext cx="4188541" cy="5073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a:extLst>
              <a:ext uri="{FF2B5EF4-FFF2-40B4-BE49-F238E27FC236}">
                <a16:creationId xmlns:a16="http://schemas.microsoft.com/office/drawing/2014/main" id="{C41D4733-6962-6278-D40C-D9E2762627DF}"/>
              </a:ext>
            </a:extLst>
          </p:cNvPr>
          <p:cNvPicPr>
            <a:picLocks noChangeAspect="1"/>
          </p:cNvPicPr>
          <p:nvPr/>
        </p:nvPicPr>
        <p:blipFill>
          <a:blip r:embed="rId4"/>
          <a:stretch>
            <a:fillRect/>
          </a:stretch>
        </p:blipFill>
        <p:spPr>
          <a:xfrm>
            <a:off x="183995" y="188460"/>
            <a:ext cx="3761558" cy="56697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82789" y="725626"/>
            <a:ext cx="3874524" cy="566977"/>
          </a:xfrm>
        </p:spPr>
        <p:txBody>
          <a:bodyPr>
            <a:normAutofit/>
          </a:bodyPr>
          <a:lstStyle/>
          <a:p>
            <a:pPr>
              <a:defRPr sz="3600" b="1">
                <a:solidFill>
                  <a:srgbClr val="19377D"/>
                </a:solidFill>
              </a:defRPr>
            </a:pPr>
            <a:r>
              <a:rPr lang="en-IN" sz="2800" b="1" dirty="0">
                <a:solidFill>
                  <a:schemeClr val="tx1">
                    <a:lumMod val="95000"/>
                    <a:lumOff val="5000"/>
                  </a:schemeClr>
                </a:solidFill>
                <a:latin typeface="Times New Roman" panose="02020603050405020304" pitchFamily="18" charset="0"/>
                <a:cs typeface="Times New Roman" panose="02020603050405020304" pitchFamily="18" charset="0"/>
              </a:rPr>
              <a:t>METHODOLOGY</a:t>
            </a:r>
            <a:endParaRPr sz="2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599" y="1292603"/>
            <a:ext cx="7914970" cy="5186855"/>
          </a:xfrm>
        </p:spPr>
        <p:txBody>
          <a:bodyPr>
            <a:normAutofit/>
          </a:bodyPr>
          <a:lstStyle/>
          <a:p>
            <a:pPr marL="0" indent="0" algn="just">
              <a:buNone/>
              <a:defRPr sz="2000">
                <a:solidFill>
                  <a:srgbClr val="1E1E1E"/>
                </a:solidFill>
              </a:defRPr>
            </a:pPr>
            <a:r>
              <a:rPr lang="en-US" sz="2400" b="1" dirty="0">
                <a:latin typeface="Times New Roman" panose="02020603050405020304" pitchFamily="18" charset="0"/>
                <a:cs typeface="Times New Roman" panose="02020603050405020304" pitchFamily="18" charset="0"/>
              </a:rPr>
              <a:t>Dataset Description:</a:t>
            </a:r>
          </a:p>
          <a:p>
            <a:pPr algn="just">
              <a:defRPr sz="2000">
                <a:solidFill>
                  <a:srgbClr val="1E1E1E"/>
                </a:solidFill>
              </a:defRPr>
            </a:pPr>
            <a:r>
              <a:rPr lang="en-US" sz="2200" dirty="0">
                <a:latin typeface="Times New Roman" panose="02020603050405020304" pitchFamily="18" charset="0"/>
                <a:cs typeface="Times New Roman" panose="02020603050405020304" pitchFamily="18" charset="0"/>
              </a:rPr>
              <a:t>The project uses the </a:t>
            </a:r>
            <a:r>
              <a:rPr lang="en-US" sz="2200" b="1" dirty="0">
                <a:latin typeface="Times New Roman" panose="02020603050405020304" pitchFamily="18" charset="0"/>
                <a:cs typeface="Times New Roman" panose="02020603050405020304" pitchFamily="18" charset="0"/>
              </a:rPr>
              <a:t>Cleveland Heart Disease Dataset</a:t>
            </a:r>
            <a:r>
              <a:rPr lang="en-US" sz="2200" dirty="0">
                <a:latin typeface="Times New Roman" panose="02020603050405020304" pitchFamily="18" charset="0"/>
                <a:cs typeface="Times New Roman" panose="02020603050405020304" pitchFamily="18" charset="0"/>
              </a:rPr>
              <a:t>, one of the most widely used benchmark datasets for cardiovascular disease prediction.</a:t>
            </a:r>
          </a:p>
          <a:p>
            <a:pPr algn="just">
              <a:defRPr sz="2000">
                <a:solidFill>
                  <a:srgbClr val="1E1E1E"/>
                </a:solidFill>
              </a:defRPr>
            </a:pPr>
            <a:r>
              <a:rPr lang="en-US" sz="2200" dirty="0">
                <a:latin typeface="Times New Roman" panose="02020603050405020304" pitchFamily="18" charset="0"/>
                <a:cs typeface="Times New Roman" panose="02020603050405020304" pitchFamily="18" charset="0"/>
              </a:rPr>
              <a:t>It contains </a:t>
            </a:r>
            <a:r>
              <a:rPr lang="en-US" sz="2200" b="1" dirty="0">
                <a:latin typeface="Times New Roman" panose="02020603050405020304" pitchFamily="18" charset="0"/>
                <a:cs typeface="Times New Roman" panose="02020603050405020304" pitchFamily="18" charset="0"/>
              </a:rPr>
              <a:t>303 patient records</a:t>
            </a:r>
            <a:r>
              <a:rPr lang="en-US" sz="2200" dirty="0">
                <a:latin typeface="Times New Roman" panose="02020603050405020304" pitchFamily="18" charset="0"/>
                <a:cs typeface="Times New Roman" panose="02020603050405020304" pitchFamily="18" charset="0"/>
              </a:rPr>
              <a:t> with </a:t>
            </a:r>
            <a:r>
              <a:rPr lang="en-US" sz="2200" b="1" dirty="0">
                <a:latin typeface="Times New Roman" panose="02020603050405020304" pitchFamily="18" charset="0"/>
                <a:cs typeface="Times New Roman" panose="02020603050405020304" pitchFamily="18" charset="0"/>
              </a:rPr>
              <a:t>14 clinical features</a:t>
            </a:r>
            <a:r>
              <a:rPr lang="en-US" sz="2200" dirty="0">
                <a:latin typeface="Times New Roman" panose="02020603050405020304" pitchFamily="18" charset="0"/>
                <a:cs typeface="Times New Roman" panose="02020603050405020304" pitchFamily="18" charset="0"/>
              </a:rPr>
              <a:t> related to heart health.</a:t>
            </a:r>
            <a:endParaRPr lang="en-US" sz="2200" b="1" dirty="0">
              <a:latin typeface="Times New Roman" panose="02020603050405020304" pitchFamily="18" charset="0"/>
              <a:cs typeface="Times New Roman" panose="02020603050405020304" pitchFamily="18" charset="0"/>
            </a:endParaRPr>
          </a:p>
          <a:p>
            <a:pPr marL="0" indent="0" algn="just">
              <a:buNone/>
              <a:defRPr sz="2000">
                <a:solidFill>
                  <a:srgbClr val="1E1E1E"/>
                </a:solidFill>
              </a:defRPr>
            </a:pPr>
            <a:endParaRPr lang="en-US" sz="24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A0BF407B-C546-44F5-E01E-E146E92DDB52}"/>
              </a:ext>
            </a:extLst>
          </p:cNvPr>
          <p:cNvPicPr>
            <a:picLocks noChangeAspect="1"/>
          </p:cNvPicPr>
          <p:nvPr/>
        </p:nvPicPr>
        <p:blipFill>
          <a:blip r:embed="rId2"/>
          <a:stretch>
            <a:fillRect/>
          </a:stretch>
        </p:blipFill>
        <p:spPr>
          <a:xfrm>
            <a:off x="305908" y="158650"/>
            <a:ext cx="3761558" cy="566977"/>
          </a:xfrm>
          <a:prstGeom prst="rect">
            <a:avLst/>
          </a:prstGeom>
        </p:spPr>
      </p:pic>
      <p:graphicFrame>
        <p:nvGraphicFramePr>
          <p:cNvPr id="6" name="Table 5">
            <a:extLst>
              <a:ext uri="{FF2B5EF4-FFF2-40B4-BE49-F238E27FC236}">
                <a16:creationId xmlns:a16="http://schemas.microsoft.com/office/drawing/2014/main" id="{C5B83876-FC19-C49A-5A16-3E62FB96A699}"/>
              </a:ext>
            </a:extLst>
          </p:cNvPr>
          <p:cNvGraphicFramePr>
            <a:graphicFrameLocks noGrp="1"/>
          </p:cNvGraphicFramePr>
          <p:nvPr>
            <p:extLst>
              <p:ext uri="{D42A27DB-BD31-4B8C-83A1-F6EECF244321}">
                <p14:modId xmlns:p14="http://schemas.microsoft.com/office/powerpoint/2010/main" val="268797603"/>
              </p:ext>
            </p:extLst>
          </p:nvPr>
        </p:nvGraphicFramePr>
        <p:xfrm>
          <a:off x="609599" y="3429000"/>
          <a:ext cx="7914970" cy="3118925"/>
        </p:xfrm>
        <a:graphic>
          <a:graphicData uri="http://schemas.openxmlformats.org/drawingml/2006/table">
            <a:tbl>
              <a:tblPr firstRow="1" bandRow="1">
                <a:tableStyleId>{5C22544A-7EE6-4342-B048-85BDC9FD1C3A}</a:tableStyleId>
              </a:tblPr>
              <a:tblGrid>
                <a:gridCol w="1130710">
                  <a:extLst>
                    <a:ext uri="{9D8B030D-6E8A-4147-A177-3AD203B41FA5}">
                      <a16:colId xmlns:a16="http://schemas.microsoft.com/office/drawing/2014/main" val="2833403169"/>
                    </a:ext>
                  </a:extLst>
                </a:gridCol>
                <a:gridCol w="1130710">
                  <a:extLst>
                    <a:ext uri="{9D8B030D-6E8A-4147-A177-3AD203B41FA5}">
                      <a16:colId xmlns:a16="http://schemas.microsoft.com/office/drawing/2014/main" val="565310163"/>
                    </a:ext>
                  </a:extLst>
                </a:gridCol>
                <a:gridCol w="1130710">
                  <a:extLst>
                    <a:ext uri="{9D8B030D-6E8A-4147-A177-3AD203B41FA5}">
                      <a16:colId xmlns:a16="http://schemas.microsoft.com/office/drawing/2014/main" val="2077259626"/>
                    </a:ext>
                  </a:extLst>
                </a:gridCol>
                <a:gridCol w="1130710">
                  <a:extLst>
                    <a:ext uri="{9D8B030D-6E8A-4147-A177-3AD203B41FA5}">
                      <a16:colId xmlns:a16="http://schemas.microsoft.com/office/drawing/2014/main" val="911293522"/>
                    </a:ext>
                  </a:extLst>
                </a:gridCol>
                <a:gridCol w="1130710">
                  <a:extLst>
                    <a:ext uri="{9D8B030D-6E8A-4147-A177-3AD203B41FA5}">
                      <a16:colId xmlns:a16="http://schemas.microsoft.com/office/drawing/2014/main" val="2247506405"/>
                    </a:ext>
                  </a:extLst>
                </a:gridCol>
                <a:gridCol w="1130710">
                  <a:extLst>
                    <a:ext uri="{9D8B030D-6E8A-4147-A177-3AD203B41FA5}">
                      <a16:colId xmlns:a16="http://schemas.microsoft.com/office/drawing/2014/main" val="3056155776"/>
                    </a:ext>
                  </a:extLst>
                </a:gridCol>
                <a:gridCol w="1130710">
                  <a:extLst>
                    <a:ext uri="{9D8B030D-6E8A-4147-A177-3AD203B41FA5}">
                      <a16:colId xmlns:a16="http://schemas.microsoft.com/office/drawing/2014/main" val="169107989"/>
                    </a:ext>
                  </a:extLst>
                </a:gridCol>
              </a:tblGrid>
              <a:tr h="852589">
                <a:tc>
                  <a:txBody>
                    <a:bodyPr/>
                    <a:lstStyle/>
                    <a:p>
                      <a:r>
                        <a:rPr lang="en-US" dirty="0"/>
                        <a:t>age</a:t>
                      </a:r>
                      <a:endParaRPr lang="en-IN" dirty="0"/>
                    </a:p>
                  </a:txBody>
                  <a:tcPr/>
                </a:tc>
                <a:tc>
                  <a:txBody>
                    <a:bodyPr/>
                    <a:lstStyle/>
                    <a:p>
                      <a:r>
                        <a:rPr lang="en-US" dirty="0"/>
                        <a:t>Sex (Gender)</a:t>
                      </a:r>
                      <a:endParaRPr lang="en-IN" dirty="0"/>
                    </a:p>
                  </a:txBody>
                  <a:tcPr/>
                </a:tc>
                <a:tc>
                  <a:txBody>
                    <a:bodyPr/>
                    <a:lstStyle/>
                    <a:p>
                      <a:r>
                        <a:rPr lang="en-US" dirty="0"/>
                        <a:t>Cp (Chest Pain)</a:t>
                      </a:r>
                      <a:endParaRPr lang="en-IN" dirty="0"/>
                    </a:p>
                  </a:txBody>
                  <a:tcPr/>
                </a:tc>
                <a:tc>
                  <a:txBody>
                    <a:bodyPr/>
                    <a:lstStyle/>
                    <a:p>
                      <a:r>
                        <a:rPr lang="en-US" dirty="0"/>
                        <a:t>Trestbps (Resting Blood Pressure)</a:t>
                      </a:r>
                      <a:endParaRPr lang="en-IN" dirty="0"/>
                    </a:p>
                  </a:txBody>
                  <a:tcPr/>
                </a:tc>
                <a:tc>
                  <a:txBody>
                    <a:bodyPr/>
                    <a:lstStyle/>
                    <a:p>
                      <a:r>
                        <a:rPr lang="en-US" dirty="0"/>
                        <a:t>Chol (Serum Cholesterol)</a:t>
                      </a:r>
                      <a:endParaRPr lang="en-IN" dirty="0"/>
                    </a:p>
                  </a:txBody>
                  <a:tcPr/>
                </a:tc>
                <a:tc>
                  <a:txBody>
                    <a:bodyPr/>
                    <a:lstStyle/>
                    <a:p>
                      <a:r>
                        <a:rPr lang="en-US" dirty="0"/>
                        <a:t>Fbs (Fasting Blood Sugar)</a:t>
                      </a:r>
                      <a:endParaRPr lang="en-IN" dirty="0"/>
                    </a:p>
                  </a:txBody>
                  <a:tcPr/>
                </a:tc>
                <a:tc>
                  <a:txBody>
                    <a:bodyPr/>
                    <a:lstStyle/>
                    <a:p>
                      <a:r>
                        <a:rPr lang="en-US" dirty="0"/>
                        <a:t>Restecg (Resting ECG Results)</a:t>
                      </a:r>
                      <a:endParaRPr lang="en-IN" dirty="0"/>
                    </a:p>
                  </a:txBody>
                  <a:tcPr/>
                </a:tc>
                <a:extLst>
                  <a:ext uri="{0D108BD9-81ED-4DB2-BD59-A6C34878D82A}">
                    <a16:rowId xmlns:a16="http://schemas.microsoft.com/office/drawing/2014/main" val="247442681"/>
                  </a:ext>
                </a:extLst>
              </a:tr>
              <a:tr h="440905">
                <a:tc>
                  <a:txBody>
                    <a:bodyPr/>
                    <a:lstStyle/>
                    <a:p>
                      <a:r>
                        <a:rPr lang="en-US" dirty="0"/>
                        <a:t>63</a:t>
                      </a:r>
                      <a:endParaRPr lang="en-IN" dirty="0"/>
                    </a:p>
                  </a:txBody>
                  <a:tcPr/>
                </a:tc>
                <a:tc>
                  <a:txBody>
                    <a:bodyPr/>
                    <a:lstStyle/>
                    <a:p>
                      <a:r>
                        <a:rPr lang="en-US" dirty="0"/>
                        <a:t>1</a:t>
                      </a:r>
                      <a:endParaRPr lang="en-IN" dirty="0"/>
                    </a:p>
                  </a:txBody>
                  <a:tcPr/>
                </a:tc>
                <a:tc>
                  <a:txBody>
                    <a:bodyPr/>
                    <a:lstStyle/>
                    <a:p>
                      <a:r>
                        <a:rPr lang="en-US" dirty="0"/>
                        <a:t>1</a:t>
                      </a:r>
                      <a:endParaRPr lang="en-IN" dirty="0"/>
                    </a:p>
                  </a:txBody>
                  <a:tcPr/>
                </a:tc>
                <a:tc>
                  <a:txBody>
                    <a:bodyPr/>
                    <a:lstStyle/>
                    <a:p>
                      <a:r>
                        <a:rPr lang="en-US" dirty="0"/>
                        <a:t>145</a:t>
                      </a:r>
                      <a:endParaRPr lang="en-IN" dirty="0"/>
                    </a:p>
                  </a:txBody>
                  <a:tcPr/>
                </a:tc>
                <a:tc>
                  <a:txBody>
                    <a:bodyPr/>
                    <a:lstStyle/>
                    <a:p>
                      <a:r>
                        <a:rPr lang="en-US" dirty="0"/>
                        <a:t>233</a:t>
                      </a:r>
                      <a:endParaRPr lang="en-IN" dirty="0"/>
                    </a:p>
                  </a:txBody>
                  <a:tcPr/>
                </a:tc>
                <a:tc>
                  <a:txBody>
                    <a:bodyPr/>
                    <a:lstStyle/>
                    <a:p>
                      <a:r>
                        <a:rPr lang="en-US" dirty="0"/>
                        <a:t>1</a:t>
                      </a:r>
                      <a:endParaRPr lang="en-IN" dirty="0"/>
                    </a:p>
                  </a:txBody>
                  <a:tcPr/>
                </a:tc>
                <a:tc>
                  <a:txBody>
                    <a:bodyPr/>
                    <a:lstStyle/>
                    <a:p>
                      <a:r>
                        <a:rPr lang="en-US" dirty="0"/>
                        <a:t>2</a:t>
                      </a:r>
                      <a:endParaRPr lang="en-IN" dirty="0"/>
                    </a:p>
                  </a:txBody>
                  <a:tcPr/>
                </a:tc>
                <a:extLst>
                  <a:ext uri="{0D108BD9-81ED-4DB2-BD59-A6C34878D82A}">
                    <a16:rowId xmlns:a16="http://schemas.microsoft.com/office/drawing/2014/main" val="2027584674"/>
                  </a:ext>
                </a:extLst>
              </a:tr>
              <a:tr h="440905">
                <a:tc>
                  <a:txBody>
                    <a:bodyPr/>
                    <a:lstStyle/>
                    <a:p>
                      <a:r>
                        <a:rPr lang="en-US" dirty="0"/>
                        <a:t>67</a:t>
                      </a:r>
                      <a:endParaRPr lang="en-IN" dirty="0"/>
                    </a:p>
                  </a:txBody>
                  <a:tcPr/>
                </a:tc>
                <a:tc>
                  <a:txBody>
                    <a:bodyPr/>
                    <a:lstStyle/>
                    <a:p>
                      <a:r>
                        <a:rPr lang="en-US" dirty="0"/>
                        <a:t>1</a:t>
                      </a:r>
                      <a:endParaRPr lang="en-IN" dirty="0"/>
                    </a:p>
                  </a:txBody>
                  <a:tcPr/>
                </a:tc>
                <a:tc>
                  <a:txBody>
                    <a:bodyPr/>
                    <a:lstStyle/>
                    <a:p>
                      <a:r>
                        <a:rPr lang="en-US" dirty="0"/>
                        <a:t>4</a:t>
                      </a:r>
                      <a:endParaRPr lang="en-IN" dirty="0"/>
                    </a:p>
                  </a:txBody>
                  <a:tcPr/>
                </a:tc>
                <a:tc>
                  <a:txBody>
                    <a:bodyPr/>
                    <a:lstStyle/>
                    <a:p>
                      <a:r>
                        <a:rPr lang="en-US" dirty="0"/>
                        <a:t>160</a:t>
                      </a:r>
                      <a:endParaRPr lang="en-IN" dirty="0"/>
                    </a:p>
                  </a:txBody>
                  <a:tcPr/>
                </a:tc>
                <a:tc>
                  <a:txBody>
                    <a:bodyPr/>
                    <a:lstStyle/>
                    <a:p>
                      <a:r>
                        <a:rPr lang="en-US" dirty="0"/>
                        <a:t>286</a:t>
                      </a:r>
                      <a:endParaRPr lang="en-IN" dirty="0"/>
                    </a:p>
                  </a:txBody>
                  <a:tcPr/>
                </a:tc>
                <a:tc>
                  <a:txBody>
                    <a:bodyPr/>
                    <a:lstStyle/>
                    <a:p>
                      <a:r>
                        <a:rPr lang="en-US" dirty="0"/>
                        <a:t>0</a:t>
                      </a:r>
                      <a:endParaRPr lang="en-IN" dirty="0"/>
                    </a:p>
                  </a:txBody>
                  <a:tcPr/>
                </a:tc>
                <a:tc>
                  <a:txBody>
                    <a:bodyPr/>
                    <a:lstStyle/>
                    <a:p>
                      <a:r>
                        <a:rPr lang="en-US" dirty="0"/>
                        <a:t>2</a:t>
                      </a:r>
                      <a:endParaRPr lang="en-IN" dirty="0"/>
                    </a:p>
                  </a:txBody>
                  <a:tcPr/>
                </a:tc>
                <a:extLst>
                  <a:ext uri="{0D108BD9-81ED-4DB2-BD59-A6C34878D82A}">
                    <a16:rowId xmlns:a16="http://schemas.microsoft.com/office/drawing/2014/main" val="2212197722"/>
                  </a:ext>
                </a:extLst>
              </a:tr>
              <a:tr h="440905">
                <a:tc>
                  <a:txBody>
                    <a:bodyPr/>
                    <a:lstStyle/>
                    <a:p>
                      <a:r>
                        <a:rPr lang="en-US" dirty="0"/>
                        <a:t>67</a:t>
                      </a:r>
                      <a:endParaRPr lang="en-IN" dirty="0"/>
                    </a:p>
                  </a:txBody>
                  <a:tcPr/>
                </a:tc>
                <a:tc>
                  <a:txBody>
                    <a:bodyPr/>
                    <a:lstStyle/>
                    <a:p>
                      <a:r>
                        <a:rPr lang="en-US" dirty="0"/>
                        <a:t>1</a:t>
                      </a:r>
                      <a:endParaRPr lang="en-IN" dirty="0"/>
                    </a:p>
                  </a:txBody>
                  <a:tcPr/>
                </a:tc>
                <a:tc>
                  <a:txBody>
                    <a:bodyPr/>
                    <a:lstStyle/>
                    <a:p>
                      <a:r>
                        <a:rPr lang="en-US" dirty="0"/>
                        <a:t>4</a:t>
                      </a:r>
                      <a:endParaRPr lang="en-IN" dirty="0"/>
                    </a:p>
                  </a:txBody>
                  <a:tcPr/>
                </a:tc>
                <a:tc>
                  <a:txBody>
                    <a:bodyPr/>
                    <a:lstStyle/>
                    <a:p>
                      <a:r>
                        <a:rPr lang="en-US" dirty="0"/>
                        <a:t>120</a:t>
                      </a:r>
                      <a:endParaRPr lang="en-IN" dirty="0"/>
                    </a:p>
                  </a:txBody>
                  <a:tcPr/>
                </a:tc>
                <a:tc>
                  <a:txBody>
                    <a:bodyPr/>
                    <a:lstStyle/>
                    <a:p>
                      <a:r>
                        <a:rPr lang="en-US" dirty="0"/>
                        <a:t>229</a:t>
                      </a:r>
                      <a:endParaRPr lang="en-IN" dirty="0"/>
                    </a:p>
                  </a:txBody>
                  <a:tcPr/>
                </a:tc>
                <a:tc>
                  <a:txBody>
                    <a:bodyPr/>
                    <a:lstStyle/>
                    <a:p>
                      <a:r>
                        <a:rPr lang="en-US" dirty="0"/>
                        <a:t>0</a:t>
                      </a:r>
                      <a:endParaRPr lang="en-IN" dirty="0"/>
                    </a:p>
                  </a:txBody>
                  <a:tcPr/>
                </a:tc>
                <a:tc>
                  <a:txBody>
                    <a:bodyPr/>
                    <a:lstStyle/>
                    <a:p>
                      <a:r>
                        <a:rPr lang="en-US" dirty="0"/>
                        <a:t>2</a:t>
                      </a:r>
                      <a:endParaRPr lang="en-IN" dirty="0"/>
                    </a:p>
                  </a:txBody>
                  <a:tcPr/>
                </a:tc>
                <a:extLst>
                  <a:ext uri="{0D108BD9-81ED-4DB2-BD59-A6C34878D82A}">
                    <a16:rowId xmlns:a16="http://schemas.microsoft.com/office/drawing/2014/main" val="1728445491"/>
                  </a:ext>
                </a:extLst>
              </a:tr>
              <a:tr h="440905">
                <a:tc>
                  <a:txBody>
                    <a:bodyPr/>
                    <a:lstStyle/>
                    <a:p>
                      <a:r>
                        <a:rPr lang="en-US" dirty="0"/>
                        <a:t>37</a:t>
                      </a:r>
                      <a:endParaRPr lang="en-IN" dirty="0"/>
                    </a:p>
                  </a:txBody>
                  <a:tcPr/>
                </a:tc>
                <a:tc>
                  <a:txBody>
                    <a:bodyPr/>
                    <a:lstStyle/>
                    <a:p>
                      <a:r>
                        <a:rPr lang="en-US" dirty="0"/>
                        <a:t>1</a:t>
                      </a:r>
                      <a:endParaRPr lang="en-IN" dirty="0"/>
                    </a:p>
                  </a:txBody>
                  <a:tcPr/>
                </a:tc>
                <a:tc>
                  <a:txBody>
                    <a:bodyPr/>
                    <a:lstStyle/>
                    <a:p>
                      <a:r>
                        <a:rPr lang="en-US" dirty="0"/>
                        <a:t>3</a:t>
                      </a:r>
                      <a:endParaRPr lang="en-IN" dirty="0"/>
                    </a:p>
                  </a:txBody>
                  <a:tcPr/>
                </a:tc>
                <a:tc>
                  <a:txBody>
                    <a:bodyPr/>
                    <a:lstStyle/>
                    <a:p>
                      <a:r>
                        <a:rPr lang="en-US" dirty="0"/>
                        <a:t>130</a:t>
                      </a:r>
                      <a:endParaRPr lang="en-IN" dirty="0"/>
                    </a:p>
                  </a:txBody>
                  <a:tcPr/>
                </a:tc>
                <a:tc>
                  <a:txBody>
                    <a:bodyPr/>
                    <a:lstStyle/>
                    <a:p>
                      <a:r>
                        <a:rPr lang="en-US" dirty="0"/>
                        <a:t>250</a:t>
                      </a:r>
                      <a:endParaRPr lang="en-IN" dirty="0"/>
                    </a:p>
                  </a:txBody>
                  <a:tcPr/>
                </a:tc>
                <a:tc>
                  <a:txBody>
                    <a:bodyPr/>
                    <a:lstStyle/>
                    <a:p>
                      <a:r>
                        <a:rPr lang="en-US" dirty="0"/>
                        <a:t>0</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1723778154"/>
                  </a:ext>
                </a:extLst>
              </a:tr>
              <a:tr h="440905">
                <a:tc>
                  <a:txBody>
                    <a:bodyPr/>
                    <a:lstStyle/>
                    <a:p>
                      <a:r>
                        <a:rPr lang="en-US" dirty="0"/>
                        <a:t>41</a:t>
                      </a:r>
                      <a:endParaRPr lang="en-IN" dirty="0"/>
                    </a:p>
                  </a:txBody>
                  <a:tcPr/>
                </a:tc>
                <a:tc>
                  <a:txBody>
                    <a:bodyPr/>
                    <a:lstStyle/>
                    <a:p>
                      <a:r>
                        <a:rPr lang="en-US" dirty="0"/>
                        <a:t>0</a:t>
                      </a:r>
                      <a:endParaRPr lang="en-IN" dirty="0"/>
                    </a:p>
                  </a:txBody>
                  <a:tcPr/>
                </a:tc>
                <a:tc>
                  <a:txBody>
                    <a:bodyPr/>
                    <a:lstStyle/>
                    <a:p>
                      <a:r>
                        <a:rPr lang="en-US" dirty="0"/>
                        <a:t>2</a:t>
                      </a:r>
                      <a:endParaRPr lang="en-IN" dirty="0"/>
                    </a:p>
                  </a:txBody>
                  <a:tcPr/>
                </a:tc>
                <a:tc>
                  <a:txBody>
                    <a:bodyPr/>
                    <a:lstStyle/>
                    <a:p>
                      <a:r>
                        <a:rPr lang="en-US" dirty="0"/>
                        <a:t>130</a:t>
                      </a:r>
                      <a:endParaRPr lang="en-IN" dirty="0"/>
                    </a:p>
                  </a:txBody>
                  <a:tcPr/>
                </a:tc>
                <a:tc>
                  <a:txBody>
                    <a:bodyPr/>
                    <a:lstStyle/>
                    <a:p>
                      <a:r>
                        <a:rPr lang="en-US" dirty="0"/>
                        <a:t>204</a:t>
                      </a:r>
                      <a:endParaRPr lang="en-IN" dirty="0"/>
                    </a:p>
                  </a:txBody>
                  <a:tcPr/>
                </a:tc>
                <a:tc>
                  <a:txBody>
                    <a:bodyPr/>
                    <a:lstStyle/>
                    <a:p>
                      <a:r>
                        <a:rPr lang="en-US" dirty="0"/>
                        <a:t>0</a:t>
                      </a:r>
                      <a:endParaRPr lang="en-IN" dirty="0"/>
                    </a:p>
                  </a:txBody>
                  <a:tcPr/>
                </a:tc>
                <a:tc>
                  <a:txBody>
                    <a:bodyPr/>
                    <a:lstStyle/>
                    <a:p>
                      <a:r>
                        <a:rPr lang="en-US" dirty="0"/>
                        <a:t>2</a:t>
                      </a:r>
                      <a:endParaRPr lang="en-IN" dirty="0"/>
                    </a:p>
                  </a:txBody>
                  <a:tcPr/>
                </a:tc>
                <a:extLst>
                  <a:ext uri="{0D108BD9-81ED-4DB2-BD59-A6C34878D82A}">
                    <a16:rowId xmlns:a16="http://schemas.microsoft.com/office/drawing/2014/main" val="274049324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EF0A8-B182-E26A-11A0-B3A0AAB9DC70}"/>
              </a:ext>
            </a:extLst>
          </p:cNvPr>
          <p:cNvSpPr>
            <a:spLocks noGrp="1"/>
          </p:cNvSpPr>
          <p:nvPr>
            <p:ph type="title"/>
          </p:nvPr>
        </p:nvSpPr>
        <p:spPr>
          <a:xfrm>
            <a:off x="2669324" y="757005"/>
            <a:ext cx="4578970" cy="671937"/>
          </a:xfrm>
        </p:spPr>
        <p:txBody>
          <a:bodyPr>
            <a:normAutofit/>
          </a:bodyPr>
          <a:lstStyle/>
          <a:p>
            <a:r>
              <a:rPr lang="en-US" sz="2800" b="1" dirty="0">
                <a:latin typeface="Times New Roman" panose="02020603050405020304" pitchFamily="18" charset="0"/>
                <a:cs typeface="Times New Roman" panose="02020603050405020304" pitchFamily="18" charset="0"/>
              </a:rPr>
              <a:t>PREPROCESSING STEPS:</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4B11AA9-24D0-1D5D-53E6-4F3EF35F0984}"/>
              </a:ext>
            </a:extLst>
          </p:cNvPr>
          <p:cNvSpPr>
            <a:spLocks noGrp="1"/>
          </p:cNvSpPr>
          <p:nvPr>
            <p:ph idx="1"/>
          </p:nvPr>
        </p:nvSpPr>
        <p:spPr>
          <a:xfrm>
            <a:off x="628650" y="1428942"/>
            <a:ext cx="7886700" cy="4748021"/>
          </a:xfrm>
        </p:spPr>
        <p:txBody>
          <a:bodyPr>
            <a:normAutofit fontScale="92500"/>
          </a:bodyPr>
          <a:lstStyle/>
          <a:p>
            <a:pPr marL="0" indent="0" algn="just">
              <a:buNone/>
            </a:pPr>
            <a:r>
              <a:rPr lang="en-US" sz="2400" b="1" dirty="0">
                <a:latin typeface="Times New Roman" panose="02020603050405020304" pitchFamily="18" charset="0"/>
                <a:cs typeface="Times New Roman" panose="02020603050405020304" pitchFamily="18" charset="0"/>
              </a:rPr>
              <a:t>Outlier Removal :</a:t>
            </a:r>
          </a:p>
          <a:p>
            <a:pPr algn="just"/>
            <a:r>
              <a:rPr lang="en-IN" sz="2400" dirty="0">
                <a:latin typeface="Times New Roman" panose="02020603050405020304" pitchFamily="18" charset="0"/>
                <a:cs typeface="Times New Roman" panose="02020603050405020304" pitchFamily="18" charset="0"/>
              </a:rPr>
              <a:t>Removal extreme values using z-score method to reduce noise.</a:t>
            </a:r>
          </a:p>
          <a:p>
            <a:pPr algn="just"/>
            <a:r>
              <a:rPr lang="en-US" sz="2400" dirty="0">
                <a:latin typeface="Times New Roman" panose="02020603050405020304" pitchFamily="18" charset="0"/>
                <a:cs typeface="Times New Roman" panose="02020603050405020304" pitchFamily="18" charset="0"/>
              </a:rPr>
              <a:t>After applying Z-Score, extreme and abnormal values in features like </a:t>
            </a:r>
            <a:r>
              <a:rPr lang="en-US" sz="2400" b="1" dirty="0">
                <a:latin typeface="Times New Roman" panose="02020603050405020304" pitchFamily="18" charset="0"/>
                <a:cs typeface="Times New Roman" panose="02020603050405020304" pitchFamily="18" charset="0"/>
              </a:rPr>
              <a:t>chol</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trestbps</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oldpeak</a:t>
            </a:r>
            <a:r>
              <a:rPr lang="en-US" sz="2400" dirty="0">
                <a:latin typeface="Times New Roman" panose="02020603050405020304" pitchFamily="18" charset="0"/>
                <a:cs typeface="Times New Roman" panose="02020603050405020304" pitchFamily="18" charset="0"/>
              </a:rPr>
              <a:t> were removed.</a:t>
            </a:r>
          </a:p>
          <a:p>
            <a:pPr algn="just"/>
            <a:r>
              <a:rPr lang="en-US" sz="2400" dirty="0">
                <a:latin typeface="Times New Roman" panose="02020603050405020304" pitchFamily="18" charset="0"/>
                <a:cs typeface="Times New Roman" panose="02020603050405020304" pitchFamily="18" charset="0"/>
              </a:rPr>
              <a:t>The dataset became </a:t>
            </a:r>
            <a:r>
              <a:rPr lang="en-US" sz="2400" b="1" dirty="0">
                <a:latin typeface="Times New Roman" panose="02020603050405020304" pitchFamily="18" charset="0"/>
                <a:cs typeface="Times New Roman" panose="02020603050405020304" pitchFamily="18" charset="0"/>
              </a:rPr>
              <a:t>cleaner, smoother, and more consistent</a:t>
            </a:r>
            <a:r>
              <a:rPr lang="en-US" sz="2400" dirty="0">
                <a:latin typeface="Times New Roman" panose="02020603050405020304" pitchFamily="18" charset="0"/>
                <a:cs typeface="Times New Roman" panose="02020603050405020304" pitchFamily="18" charset="0"/>
              </a:rPr>
              <a:t>, reducing noise.</a:t>
            </a:r>
          </a:p>
          <a:p>
            <a:pPr algn="just"/>
            <a:r>
              <a:rPr lang="en-US" sz="2400" dirty="0">
                <a:latin typeface="Times New Roman" panose="02020603050405020304" pitchFamily="18" charset="0"/>
                <a:cs typeface="Times New Roman" panose="02020603050405020304" pitchFamily="18" charset="0"/>
              </a:rPr>
              <a:t>Feature distributions</a:t>
            </a:r>
          </a:p>
          <a:p>
            <a:pPr marL="0" indent="0" algn="just">
              <a:buNone/>
            </a:pPr>
            <a:r>
              <a:rPr lang="en-US" sz="2400" dirty="0">
                <a:latin typeface="Times New Roman" panose="02020603050405020304" pitchFamily="18" charset="0"/>
                <a:cs typeface="Times New Roman" panose="02020603050405020304" pitchFamily="18" charset="0"/>
              </a:rPr>
              <a:t>became </a:t>
            </a:r>
            <a:r>
              <a:rPr lang="en-US" sz="2400" b="1" dirty="0">
                <a:latin typeface="Times New Roman" panose="02020603050405020304" pitchFamily="18" charset="0"/>
                <a:cs typeface="Times New Roman" panose="02020603050405020304" pitchFamily="18" charset="0"/>
              </a:rPr>
              <a:t>more uniform</a:t>
            </a:r>
            <a:r>
              <a:rPr lang="en-US" sz="2400" dirty="0">
                <a:latin typeface="Times New Roman" panose="02020603050405020304" pitchFamily="18" charset="0"/>
                <a:cs typeface="Times New Roman" panose="02020603050405020304" pitchFamily="18" charset="0"/>
              </a:rPr>
              <a:t> and </a:t>
            </a:r>
          </a:p>
          <a:p>
            <a:pPr marL="0" indent="0" algn="just">
              <a:buNone/>
            </a:pPr>
            <a:r>
              <a:rPr lang="en-US" sz="2400" dirty="0">
                <a:latin typeface="Times New Roman" panose="02020603050405020304" pitchFamily="18" charset="0"/>
                <a:cs typeface="Times New Roman" panose="02020603050405020304" pitchFamily="18" charset="0"/>
              </a:rPr>
              <a:t>closer to normal ranges.</a:t>
            </a:r>
          </a:p>
          <a:p>
            <a:pPr algn="just"/>
            <a:r>
              <a:rPr lang="en-US" sz="2400" dirty="0">
                <a:latin typeface="Times New Roman" panose="02020603050405020304" pitchFamily="18" charset="0"/>
                <a:cs typeface="Times New Roman" panose="02020603050405020304" pitchFamily="18" charset="0"/>
              </a:rPr>
              <a:t>Overall data quality </a:t>
            </a:r>
          </a:p>
          <a:p>
            <a:pPr marL="0" indent="0" algn="just">
              <a:buNone/>
            </a:pPr>
            <a:r>
              <a:rPr lang="en-US" sz="2400" dirty="0">
                <a:latin typeface="Times New Roman" panose="02020603050405020304" pitchFamily="18" charset="0"/>
                <a:cs typeface="Times New Roman" panose="02020603050405020304" pitchFamily="18" charset="0"/>
              </a:rPr>
              <a:t>improved, leading to </a:t>
            </a:r>
            <a:r>
              <a:rPr lang="en-US" sz="2400" b="1" dirty="0">
                <a:latin typeface="Times New Roman" panose="02020603050405020304" pitchFamily="18" charset="0"/>
                <a:cs typeface="Times New Roman" panose="02020603050405020304" pitchFamily="18" charset="0"/>
              </a:rPr>
              <a:t>better</a:t>
            </a:r>
          </a:p>
          <a:p>
            <a:pPr marL="0" indent="0" algn="just">
              <a:buNone/>
            </a:pPr>
            <a:r>
              <a:rPr lang="en-US" sz="2400" b="1" dirty="0">
                <a:latin typeface="Times New Roman" panose="02020603050405020304" pitchFamily="18" charset="0"/>
                <a:cs typeface="Times New Roman" panose="02020603050405020304" pitchFamily="18" charset="0"/>
              </a:rPr>
              <a:t> accuracy and generalization</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marL="0" indent="0" algn="just">
              <a:buNone/>
            </a:pPr>
            <a:endParaRPr lang="en-IN" sz="2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ABD71EC-C3F5-1610-28FE-11356568FF44}"/>
              </a:ext>
            </a:extLst>
          </p:cNvPr>
          <p:cNvPicPr>
            <a:picLocks noChangeAspect="1"/>
          </p:cNvPicPr>
          <p:nvPr/>
        </p:nvPicPr>
        <p:blipFill>
          <a:blip r:embed="rId2"/>
          <a:stretch>
            <a:fillRect/>
          </a:stretch>
        </p:blipFill>
        <p:spPr>
          <a:xfrm>
            <a:off x="137592" y="190028"/>
            <a:ext cx="3761558" cy="566977"/>
          </a:xfrm>
          <a:prstGeom prst="rect">
            <a:avLst/>
          </a:prstGeom>
        </p:spPr>
      </p:pic>
      <p:pic>
        <p:nvPicPr>
          <p:cNvPr id="6" name="Picture 5">
            <a:extLst>
              <a:ext uri="{FF2B5EF4-FFF2-40B4-BE49-F238E27FC236}">
                <a16:creationId xmlns:a16="http://schemas.microsoft.com/office/drawing/2014/main" id="{C7E8FE86-85F8-545D-C129-4A6856651C88}"/>
              </a:ext>
            </a:extLst>
          </p:cNvPr>
          <p:cNvPicPr>
            <a:picLocks noChangeAspect="1"/>
          </p:cNvPicPr>
          <p:nvPr/>
        </p:nvPicPr>
        <p:blipFill>
          <a:blip r:embed="rId3"/>
          <a:stretch>
            <a:fillRect/>
          </a:stretch>
        </p:blipFill>
        <p:spPr>
          <a:xfrm>
            <a:off x="3899151" y="3302993"/>
            <a:ext cx="4616200" cy="2361827"/>
          </a:xfrm>
          <a:prstGeom prst="rect">
            <a:avLst/>
          </a:prstGeom>
        </p:spPr>
      </p:pic>
    </p:spTree>
    <p:extLst>
      <p:ext uri="{BB962C8B-B14F-4D97-AF65-F5344CB8AC3E}">
        <p14:creationId xmlns:p14="http://schemas.microsoft.com/office/powerpoint/2010/main" val="967237206"/>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2DEB5-1701-A158-FEEF-577CE37A3CE3}"/>
              </a:ext>
            </a:extLst>
          </p:cNvPr>
          <p:cNvSpPr>
            <a:spLocks noGrp="1"/>
          </p:cNvSpPr>
          <p:nvPr>
            <p:ph type="title"/>
          </p:nvPr>
        </p:nvSpPr>
        <p:spPr>
          <a:xfrm>
            <a:off x="2589174" y="898796"/>
            <a:ext cx="4121770" cy="448913"/>
          </a:xfrm>
        </p:spPr>
        <p:txBody>
          <a:bodyPr>
            <a:normAutofit fontScale="90000"/>
          </a:bodyPr>
          <a:lstStyle/>
          <a:p>
            <a:r>
              <a:rPr lang="en-US" sz="2800" b="1" dirty="0">
                <a:latin typeface="Times New Roman" panose="02020603050405020304" pitchFamily="18" charset="0"/>
                <a:cs typeface="Times New Roman" panose="02020603050405020304" pitchFamily="18" charset="0"/>
              </a:rPr>
              <a:t>Missing Value Imputation </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04B7269-5AD4-91E8-A1BB-42A182639A6C}"/>
              </a:ext>
            </a:extLst>
          </p:cNvPr>
          <p:cNvSpPr>
            <a:spLocks noGrp="1"/>
          </p:cNvSpPr>
          <p:nvPr>
            <p:ph idx="1"/>
          </p:nvPr>
        </p:nvSpPr>
        <p:spPr>
          <a:xfrm>
            <a:off x="628650" y="1376710"/>
            <a:ext cx="7886700" cy="4800253"/>
          </a:xfrm>
        </p:spPr>
        <p:txBody>
          <a:bodyPr>
            <a:normAutofit/>
          </a:bodyPr>
          <a:lstStyle/>
          <a:p>
            <a:pPr algn="just"/>
            <a:r>
              <a:rPr lang="en-IN" sz="2200" dirty="0">
                <a:latin typeface="Times New Roman" panose="02020603050405020304" pitchFamily="18" charset="0"/>
                <a:cs typeface="Times New Roman" panose="02020603050405020304" pitchFamily="18" charset="0"/>
              </a:rPr>
              <a:t>Filling missing clinical attributes for consistent model training.</a:t>
            </a:r>
          </a:p>
          <a:p>
            <a:pPr algn="just"/>
            <a:r>
              <a:rPr lang="en-US" sz="2200" dirty="0">
                <a:latin typeface="Times New Roman" panose="02020603050405020304" pitchFamily="18" charset="0"/>
                <a:cs typeface="Times New Roman" panose="02020603050405020304" pitchFamily="18" charset="0"/>
              </a:rPr>
              <a:t>All missing values in the dataset were successfully filled using the column mean</a:t>
            </a:r>
          </a:p>
          <a:p>
            <a:pPr algn="just"/>
            <a:r>
              <a:rPr lang="en-US" sz="2200" dirty="0">
                <a:latin typeface="Times New Roman" panose="02020603050405020304" pitchFamily="18" charset="0"/>
                <a:cs typeface="Times New Roman" panose="02020603050405020304" pitchFamily="18" charset="0"/>
              </a:rPr>
              <a:t>The dataset now contains </a:t>
            </a:r>
            <a:r>
              <a:rPr lang="en-US" sz="2200" b="1" dirty="0">
                <a:latin typeface="Times New Roman" panose="02020603050405020304" pitchFamily="18" charset="0"/>
                <a:cs typeface="Times New Roman" panose="02020603050405020304" pitchFamily="18" charset="0"/>
              </a:rPr>
              <a:t>0 missing values</a:t>
            </a:r>
            <a:r>
              <a:rPr lang="en-US" sz="2200" dirty="0">
                <a:latin typeface="Times New Roman" panose="02020603050405020304" pitchFamily="18" charset="0"/>
                <a:cs typeface="Times New Roman" panose="02020603050405020304" pitchFamily="18" charset="0"/>
              </a:rPr>
              <a:t>, making it complete for model training.</a:t>
            </a:r>
          </a:p>
          <a:p>
            <a:pPr algn="just"/>
            <a:r>
              <a:rPr lang="en-US" sz="2200" dirty="0">
                <a:latin typeface="Times New Roman" panose="02020603050405020304" pitchFamily="18" charset="0"/>
                <a:cs typeface="Times New Roman" panose="02020603050405020304" pitchFamily="18" charset="0"/>
              </a:rPr>
              <a:t>The distribution of the </a:t>
            </a:r>
          </a:p>
          <a:p>
            <a:pPr marL="0" indent="0" algn="just">
              <a:buNone/>
            </a:pPr>
            <a:r>
              <a:rPr lang="en-US" sz="2200" dirty="0">
                <a:latin typeface="Times New Roman" panose="02020603050405020304" pitchFamily="18" charset="0"/>
                <a:cs typeface="Times New Roman" panose="02020603050405020304" pitchFamily="18" charset="0"/>
              </a:rPr>
              <a:t>Feature e.g., cholesterol </a:t>
            </a:r>
          </a:p>
          <a:p>
            <a:pPr marL="0" indent="0" algn="just">
              <a:buNone/>
            </a:pPr>
            <a:r>
              <a:rPr lang="en-US" sz="2200" dirty="0">
                <a:latin typeface="Times New Roman" panose="02020603050405020304" pitchFamily="18" charset="0"/>
                <a:cs typeface="Times New Roman" panose="02020603050405020304" pitchFamily="18" charset="0"/>
              </a:rPr>
              <a:t>became </a:t>
            </a:r>
            <a:r>
              <a:rPr lang="en-US" sz="2200" b="1" dirty="0">
                <a:latin typeface="Times New Roman" panose="02020603050405020304" pitchFamily="18" charset="0"/>
                <a:cs typeface="Times New Roman" panose="02020603050405020304" pitchFamily="18" charset="0"/>
              </a:rPr>
              <a:t>smooth and </a:t>
            </a:r>
          </a:p>
          <a:p>
            <a:pPr marL="0" indent="0" algn="just">
              <a:buNone/>
            </a:pPr>
            <a:r>
              <a:rPr lang="en-US" sz="2200" b="1" dirty="0">
                <a:latin typeface="Times New Roman" panose="02020603050405020304" pitchFamily="18" charset="0"/>
                <a:cs typeface="Times New Roman" panose="02020603050405020304" pitchFamily="18" charset="0"/>
              </a:rPr>
              <a:t>continuous</a:t>
            </a:r>
            <a:r>
              <a:rPr lang="en-US" sz="2200" dirty="0">
                <a:latin typeface="Times New Roman" panose="02020603050405020304" pitchFamily="18" charset="0"/>
                <a:cs typeface="Times New Roman" panose="02020603050405020304" pitchFamily="18" charset="0"/>
              </a:rPr>
              <a:t> after </a:t>
            </a:r>
          </a:p>
          <a:p>
            <a:pPr marL="0" indent="0" algn="just">
              <a:buNone/>
            </a:pPr>
            <a:r>
              <a:rPr lang="en-US" sz="2200" dirty="0">
                <a:latin typeface="Times New Roman" panose="02020603050405020304" pitchFamily="18" charset="0"/>
                <a:cs typeface="Times New Roman" panose="02020603050405020304" pitchFamily="18" charset="0"/>
              </a:rPr>
              <a:t>imputation.</a:t>
            </a:r>
          </a:p>
          <a:p>
            <a:pPr algn="just"/>
            <a:r>
              <a:rPr lang="en-US" sz="2200" dirty="0">
                <a:latin typeface="Times New Roman" panose="02020603050405020304" pitchFamily="18" charset="0"/>
                <a:cs typeface="Times New Roman" panose="02020603050405020304" pitchFamily="18" charset="0"/>
              </a:rPr>
              <a:t>The imputed values reduced gaps in data and improved overall data quality.</a:t>
            </a:r>
            <a:endParaRPr lang="en-IN" sz="2200" dirty="0">
              <a:latin typeface="Times New Roman" panose="02020603050405020304" pitchFamily="18" charset="0"/>
              <a:cs typeface="Times New Roman" panose="02020603050405020304" pitchFamily="18" charset="0"/>
            </a:endParaRPr>
          </a:p>
          <a:p>
            <a:pPr algn="just"/>
            <a:endParaRPr lang="en-IN" dirty="0"/>
          </a:p>
          <a:p>
            <a:pPr algn="just"/>
            <a:endParaRPr lang="en-IN" sz="2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C5CE6B8-F13B-F86C-E374-4379048814C1}"/>
              </a:ext>
            </a:extLst>
          </p:cNvPr>
          <p:cNvPicPr>
            <a:picLocks noChangeAspect="1"/>
          </p:cNvPicPr>
          <p:nvPr/>
        </p:nvPicPr>
        <p:blipFill>
          <a:blip r:embed="rId2"/>
          <a:stretch>
            <a:fillRect/>
          </a:stretch>
        </p:blipFill>
        <p:spPr>
          <a:xfrm>
            <a:off x="182196" y="302818"/>
            <a:ext cx="3761558" cy="566977"/>
          </a:xfrm>
          <a:prstGeom prst="rect">
            <a:avLst/>
          </a:prstGeom>
        </p:spPr>
      </p:pic>
      <p:pic>
        <p:nvPicPr>
          <p:cNvPr id="6" name="Picture 5">
            <a:extLst>
              <a:ext uri="{FF2B5EF4-FFF2-40B4-BE49-F238E27FC236}">
                <a16:creationId xmlns:a16="http://schemas.microsoft.com/office/drawing/2014/main" id="{5C622891-653A-514A-2E2D-45FCAC079768}"/>
              </a:ext>
            </a:extLst>
          </p:cNvPr>
          <p:cNvPicPr>
            <a:picLocks noChangeAspect="1"/>
          </p:cNvPicPr>
          <p:nvPr/>
        </p:nvPicPr>
        <p:blipFill>
          <a:blip r:embed="rId3"/>
          <a:stretch>
            <a:fillRect/>
          </a:stretch>
        </p:blipFill>
        <p:spPr>
          <a:xfrm>
            <a:off x="6200078" y="2877015"/>
            <a:ext cx="2473290" cy="2018371"/>
          </a:xfrm>
          <a:prstGeom prst="rect">
            <a:avLst/>
          </a:prstGeom>
        </p:spPr>
      </p:pic>
      <p:pic>
        <p:nvPicPr>
          <p:cNvPr id="8" name="Picture 7">
            <a:extLst>
              <a:ext uri="{FF2B5EF4-FFF2-40B4-BE49-F238E27FC236}">
                <a16:creationId xmlns:a16="http://schemas.microsoft.com/office/drawing/2014/main" id="{66C88E81-2599-5062-0E63-9DF483C23151}"/>
              </a:ext>
            </a:extLst>
          </p:cNvPr>
          <p:cNvPicPr>
            <a:picLocks noChangeAspect="1"/>
          </p:cNvPicPr>
          <p:nvPr/>
        </p:nvPicPr>
        <p:blipFill>
          <a:blip r:embed="rId4"/>
          <a:stretch>
            <a:fillRect/>
          </a:stretch>
        </p:blipFill>
        <p:spPr>
          <a:xfrm>
            <a:off x="3434576" y="2965217"/>
            <a:ext cx="2765502" cy="1901169"/>
          </a:xfrm>
          <a:prstGeom prst="rect">
            <a:avLst/>
          </a:prstGeom>
        </p:spPr>
      </p:pic>
    </p:spTree>
    <p:extLst>
      <p:ext uri="{BB962C8B-B14F-4D97-AF65-F5344CB8AC3E}">
        <p14:creationId xmlns:p14="http://schemas.microsoft.com/office/powerpoint/2010/main" val="369957538"/>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1C264-0E63-3104-484F-92BE462E992E}"/>
              </a:ext>
            </a:extLst>
          </p:cNvPr>
          <p:cNvSpPr>
            <a:spLocks noGrp="1"/>
          </p:cNvSpPr>
          <p:nvPr>
            <p:ph type="title"/>
          </p:nvPr>
        </p:nvSpPr>
        <p:spPr>
          <a:xfrm>
            <a:off x="3219217" y="707016"/>
            <a:ext cx="2549448" cy="571576"/>
          </a:xfrm>
        </p:spPr>
        <p:txBody>
          <a:bodyPr>
            <a:normAutofit/>
          </a:bodyPr>
          <a:lstStyle/>
          <a:p>
            <a:r>
              <a:rPr lang="en-US" sz="2800" b="1" dirty="0">
                <a:latin typeface="Times New Roman" panose="02020603050405020304" pitchFamily="18" charset="0"/>
                <a:cs typeface="Times New Roman" panose="02020603050405020304" pitchFamily="18" charset="0"/>
              </a:rPr>
              <a:t>Normalization</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70098A9-9F9B-05B2-B7EA-11232E39C8E7}"/>
              </a:ext>
            </a:extLst>
          </p:cNvPr>
          <p:cNvSpPr>
            <a:spLocks noGrp="1"/>
          </p:cNvSpPr>
          <p:nvPr>
            <p:ph idx="1"/>
          </p:nvPr>
        </p:nvSpPr>
        <p:spPr>
          <a:xfrm>
            <a:off x="628650" y="1230311"/>
            <a:ext cx="7886700" cy="4946652"/>
          </a:xfrm>
        </p:spPr>
        <p:txBody>
          <a:bodyPr>
            <a:normAutofit/>
          </a:bodyPr>
          <a:lstStyle/>
          <a:p>
            <a:pPr algn="just"/>
            <a:r>
              <a:rPr lang="en-US" sz="2200" dirty="0">
                <a:latin typeface="Times New Roman" panose="02020603050405020304" pitchFamily="18" charset="0"/>
                <a:cs typeface="Times New Roman" panose="02020603050405020304" pitchFamily="18" charset="0"/>
              </a:rPr>
              <a:t>All feature values were scaled to a </a:t>
            </a:r>
            <a:r>
              <a:rPr lang="en-US" sz="2200" b="1" dirty="0">
                <a:latin typeface="Times New Roman" panose="02020603050405020304" pitchFamily="18" charset="0"/>
                <a:cs typeface="Times New Roman" panose="02020603050405020304" pitchFamily="18" charset="0"/>
              </a:rPr>
              <a:t>common range</a:t>
            </a:r>
            <a:r>
              <a:rPr lang="en-US" sz="2200" dirty="0">
                <a:latin typeface="Times New Roman" panose="02020603050405020304" pitchFamily="18" charset="0"/>
                <a:cs typeface="Times New Roman" panose="02020603050405020304" pitchFamily="18" charset="0"/>
              </a:rPr>
              <a:t>, removing differences in magnitude.</a:t>
            </a:r>
          </a:p>
          <a:p>
            <a:pPr algn="just"/>
            <a:r>
              <a:rPr lang="en-US" sz="2200" dirty="0">
                <a:latin typeface="Times New Roman" panose="02020603050405020304" pitchFamily="18" charset="0"/>
                <a:cs typeface="Times New Roman" panose="02020603050405020304" pitchFamily="18" charset="0"/>
              </a:rPr>
              <a:t>Features with large values</a:t>
            </a:r>
          </a:p>
          <a:p>
            <a:pPr marL="0" indent="0" algn="just">
              <a:buNone/>
            </a:pPr>
            <a:r>
              <a:rPr lang="en-US" sz="2200" dirty="0">
                <a:latin typeface="Times New Roman" panose="02020603050405020304" pitchFamily="18" charset="0"/>
                <a:cs typeface="Times New Roman" panose="02020603050405020304" pitchFamily="18" charset="0"/>
              </a:rPr>
              <a:t> (like cholesterol, blood </a:t>
            </a:r>
          </a:p>
          <a:p>
            <a:pPr marL="0" indent="0" algn="just">
              <a:buNone/>
            </a:pPr>
            <a:r>
              <a:rPr lang="en-US" sz="2200" dirty="0">
                <a:latin typeface="Times New Roman" panose="02020603050405020304" pitchFamily="18" charset="0"/>
                <a:cs typeface="Times New Roman" panose="02020603050405020304" pitchFamily="18" charset="0"/>
              </a:rPr>
              <a:t>pressure) no longer </a:t>
            </a:r>
          </a:p>
          <a:p>
            <a:pPr marL="0" indent="0" algn="just">
              <a:buNone/>
            </a:pPr>
            <a:r>
              <a:rPr lang="en-US" sz="2200" dirty="0">
                <a:latin typeface="Times New Roman" panose="02020603050405020304" pitchFamily="18" charset="0"/>
                <a:cs typeface="Times New Roman" panose="02020603050405020304" pitchFamily="18" charset="0"/>
              </a:rPr>
              <a:t>dominate the model.</a:t>
            </a:r>
          </a:p>
          <a:p>
            <a:pPr algn="just"/>
            <a:r>
              <a:rPr lang="en-US" sz="2200" dirty="0">
                <a:latin typeface="Times New Roman" panose="02020603050405020304" pitchFamily="18" charset="0"/>
                <a:cs typeface="Times New Roman" panose="02020603050405020304" pitchFamily="18" charset="0"/>
              </a:rPr>
              <a:t>The distribution of each </a:t>
            </a:r>
          </a:p>
          <a:p>
            <a:pPr marL="0" indent="0" algn="just">
              <a:buNone/>
            </a:pPr>
            <a:r>
              <a:rPr lang="en-US" sz="2200" dirty="0">
                <a:latin typeface="Times New Roman" panose="02020603050405020304" pitchFamily="18" charset="0"/>
                <a:cs typeface="Times New Roman" panose="02020603050405020304" pitchFamily="18" charset="0"/>
              </a:rPr>
              <a:t>feature is centered around </a:t>
            </a:r>
          </a:p>
          <a:p>
            <a:pPr marL="0" indent="0" algn="just">
              <a:buNone/>
            </a:pPr>
            <a:r>
              <a:rPr lang="en-US" sz="2200" b="1" dirty="0">
                <a:latin typeface="Times New Roman" panose="02020603050405020304" pitchFamily="18" charset="0"/>
                <a:cs typeface="Times New Roman" panose="02020603050405020304" pitchFamily="18" charset="0"/>
              </a:rPr>
              <a:t>0 mean and unit variance</a:t>
            </a:r>
            <a:r>
              <a:rPr lang="en-US" sz="2200" dirty="0">
                <a:latin typeface="Times New Roman" panose="02020603050405020304" pitchFamily="18" charset="0"/>
                <a:cs typeface="Times New Roman" panose="02020603050405020304" pitchFamily="18" charset="0"/>
              </a:rPr>
              <a:t>.</a:t>
            </a:r>
          </a:p>
          <a:p>
            <a:pPr algn="just"/>
            <a:r>
              <a:rPr lang="en-US" sz="2200" dirty="0">
                <a:latin typeface="Times New Roman" panose="02020603050405020304" pitchFamily="18" charset="0"/>
                <a:cs typeface="Times New Roman" panose="02020603050405020304" pitchFamily="18" charset="0"/>
              </a:rPr>
              <a:t>Model training becomes </a:t>
            </a:r>
            <a:r>
              <a:rPr lang="en-US" sz="2200" b="1" dirty="0">
                <a:latin typeface="Times New Roman" panose="02020603050405020304" pitchFamily="18" charset="0"/>
                <a:cs typeface="Times New Roman" panose="02020603050405020304" pitchFamily="18" charset="0"/>
              </a:rPr>
              <a:t>more stable and faster</a:t>
            </a:r>
            <a:r>
              <a:rPr lang="en-US" sz="2200" dirty="0">
                <a:latin typeface="Times New Roman" panose="02020603050405020304" pitchFamily="18" charset="0"/>
                <a:cs typeface="Times New Roman" panose="02020603050405020304" pitchFamily="18" charset="0"/>
              </a:rPr>
              <a:t> after normalization.</a:t>
            </a:r>
          </a:p>
          <a:p>
            <a:pPr algn="just"/>
            <a:r>
              <a:rPr lang="en-US" sz="2200" dirty="0">
                <a:latin typeface="Times New Roman" panose="02020603050405020304" pitchFamily="18" charset="0"/>
                <a:cs typeface="Times New Roman" panose="02020603050405020304" pitchFamily="18" charset="0"/>
              </a:rPr>
              <a:t>Overall, normalization improved model performance and ensured balanced feature contribution.</a:t>
            </a:r>
            <a:endParaRPr lang="en-IN" sz="22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FB8420A-96E2-947D-7CF7-101DF2198370}"/>
              </a:ext>
            </a:extLst>
          </p:cNvPr>
          <p:cNvPicPr>
            <a:picLocks noChangeAspect="1"/>
          </p:cNvPicPr>
          <p:nvPr/>
        </p:nvPicPr>
        <p:blipFill>
          <a:blip r:embed="rId2"/>
          <a:stretch>
            <a:fillRect/>
          </a:stretch>
        </p:blipFill>
        <p:spPr>
          <a:xfrm>
            <a:off x="82184" y="246194"/>
            <a:ext cx="3761558" cy="566977"/>
          </a:xfrm>
          <a:prstGeom prst="rect">
            <a:avLst/>
          </a:prstGeom>
        </p:spPr>
      </p:pic>
      <p:pic>
        <p:nvPicPr>
          <p:cNvPr id="8" name="Picture 7">
            <a:extLst>
              <a:ext uri="{FF2B5EF4-FFF2-40B4-BE49-F238E27FC236}">
                <a16:creationId xmlns:a16="http://schemas.microsoft.com/office/drawing/2014/main" id="{1B8596B0-344F-0C79-6603-D0F0B5ED2CEA}"/>
              </a:ext>
            </a:extLst>
          </p:cNvPr>
          <p:cNvPicPr>
            <a:picLocks noChangeAspect="1"/>
          </p:cNvPicPr>
          <p:nvPr/>
        </p:nvPicPr>
        <p:blipFill>
          <a:blip r:embed="rId3"/>
          <a:stretch>
            <a:fillRect/>
          </a:stretch>
        </p:blipFill>
        <p:spPr>
          <a:xfrm>
            <a:off x="3843742" y="1936987"/>
            <a:ext cx="4650059" cy="2311628"/>
          </a:xfrm>
          <a:prstGeom prst="rect">
            <a:avLst/>
          </a:prstGeom>
        </p:spPr>
      </p:pic>
    </p:spTree>
    <p:extLst>
      <p:ext uri="{BB962C8B-B14F-4D97-AF65-F5344CB8AC3E}">
        <p14:creationId xmlns:p14="http://schemas.microsoft.com/office/powerpoint/2010/main" val="2366206488"/>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22E87-FD6B-7BCC-2084-7DF3C7EDD85B}"/>
              </a:ext>
            </a:extLst>
          </p:cNvPr>
          <p:cNvSpPr>
            <a:spLocks noGrp="1"/>
          </p:cNvSpPr>
          <p:nvPr>
            <p:ph type="title"/>
          </p:nvPr>
        </p:nvSpPr>
        <p:spPr>
          <a:xfrm>
            <a:off x="3338396" y="681037"/>
            <a:ext cx="1713106" cy="593879"/>
          </a:xfrm>
        </p:spPr>
        <p:txBody>
          <a:bodyPr>
            <a:normAutofit/>
          </a:bodyPr>
          <a:lstStyle/>
          <a:p>
            <a:r>
              <a:rPr lang="en-US" sz="2800" b="1" dirty="0">
                <a:latin typeface="Times New Roman" panose="02020603050405020304" pitchFamily="18" charset="0"/>
                <a:cs typeface="Times New Roman" panose="02020603050405020304" pitchFamily="18" charset="0"/>
              </a:rPr>
              <a:t>Encoding</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A4130D8-8811-5E36-8F9C-8CFC5FE66D60}"/>
              </a:ext>
            </a:extLst>
          </p:cNvPr>
          <p:cNvSpPr>
            <a:spLocks noGrp="1"/>
          </p:cNvSpPr>
          <p:nvPr>
            <p:ph idx="1"/>
          </p:nvPr>
        </p:nvSpPr>
        <p:spPr>
          <a:xfrm>
            <a:off x="628650" y="1274916"/>
            <a:ext cx="7886700" cy="4902047"/>
          </a:xfrm>
        </p:spPr>
        <p:txBody>
          <a:bodyPr>
            <a:normAutofit/>
          </a:bodyPr>
          <a:lstStyle/>
          <a:p>
            <a:pPr algn="just"/>
            <a:r>
              <a:rPr lang="en-US" sz="2200" dirty="0">
                <a:latin typeface="Times New Roman" panose="02020603050405020304" pitchFamily="18" charset="0"/>
                <a:cs typeface="Times New Roman" panose="02020603050405020304" pitchFamily="18" charset="0"/>
              </a:rPr>
              <a:t>All categorical features were successfully converted into numerical values.</a:t>
            </a:r>
          </a:p>
          <a:p>
            <a:pPr algn="just"/>
            <a:r>
              <a:rPr lang="en-US" sz="2200" dirty="0">
                <a:latin typeface="Times New Roman" panose="02020603050405020304" pitchFamily="18" charset="0"/>
                <a:cs typeface="Times New Roman" panose="02020603050405020304" pitchFamily="18" charset="0"/>
              </a:rPr>
              <a:t>The dataset became fully </a:t>
            </a:r>
          </a:p>
          <a:p>
            <a:pPr marL="0" indent="0" algn="just">
              <a:buNone/>
            </a:pPr>
            <a:r>
              <a:rPr lang="en-US" sz="2200" dirty="0">
                <a:latin typeface="Times New Roman" panose="02020603050405020304" pitchFamily="18" charset="0"/>
                <a:cs typeface="Times New Roman" panose="02020603050405020304" pitchFamily="18" charset="0"/>
              </a:rPr>
              <a:t>numeric and compatible with </a:t>
            </a:r>
          </a:p>
          <a:p>
            <a:pPr marL="0" indent="0" algn="just">
              <a:buNone/>
            </a:pPr>
            <a:r>
              <a:rPr lang="en-US" sz="2200" dirty="0">
                <a:latin typeface="Times New Roman" panose="02020603050405020304" pitchFamily="18" charset="0"/>
                <a:cs typeface="Times New Roman" panose="02020603050405020304" pitchFamily="18" charset="0"/>
              </a:rPr>
              <a:t>ML/DL models.</a:t>
            </a:r>
          </a:p>
          <a:p>
            <a:pPr algn="just"/>
            <a:r>
              <a:rPr lang="en-US" sz="2200" dirty="0">
                <a:latin typeface="Times New Roman" panose="02020603050405020304" pitchFamily="18" charset="0"/>
                <a:cs typeface="Times New Roman" panose="02020603050405020304" pitchFamily="18" charset="0"/>
              </a:rPr>
              <a:t>Encoded columns now contain </a:t>
            </a:r>
          </a:p>
          <a:p>
            <a:pPr marL="0" indent="0" algn="just">
              <a:buNone/>
            </a:pPr>
            <a:r>
              <a:rPr lang="en-US" sz="2200" b="1" dirty="0">
                <a:latin typeface="Times New Roman" panose="02020603050405020304" pitchFamily="18" charset="0"/>
                <a:cs typeface="Times New Roman" panose="02020603050405020304" pitchFamily="18" charset="0"/>
              </a:rPr>
              <a:t>0s, 1s, or label numbers</a:t>
            </a:r>
            <a:r>
              <a:rPr lang="en-US" sz="2200" dirty="0">
                <a:latin typeface="Times New Roman" panose="02020603050405020304" pitchFamily="18" charset="0"/>
                <a:cs typeface="Times New Roman" panose="02020603050405020304" pitchFamily="18" charset="0"/>
              </a:rPr>
              <a:t> instead </a:t>
            </a:r>
          </a:p>
          <a:p>
            <a:pPr marL="0" indent="0" algn="just">
              <a:buNone/>
            </a:pPr>
            <a:r>
              <a:rPr lang="en-US" sz="2200" dirty="0">
                <a:latin typeface="Times New Roman" panose="02020603050405020304" pitchFamily="18" charset="0"/>
                <a:cs typeface="Times New Roman" panose="02020603050405020304" pitchFamily="18" charset="0"/>
              </a:rPr>
              <a:t>of text categories.</a:t>
            </a:r>
          </a:p>
          <a:p>
            <a:pPr algn="just"/>
            <a:r>
              <a:rPr lang="en-US" sz="2200" dirty="0">
                <a:latin typeface="Times New Roman" panose="02020603050405020304" pitchFamily="18" charset="0"/>
                <a:cs typeface="Times New Roman" panose="02020603050405020304" pitchFamily="18" charset="0"/>
              </a:rPr>
              <a:t>The overall dataset structure </a:t>
            </a:r>
          </a:p>
          <a:p>
            <a:pPr marL="0" indent="0" algn="just">
              <a:buNone/>
            </a:pPr>
            <a:r>
              <a:rPr lang="en-US" sz="2200" dirty="0">
                <a:latin typeface="Times New Roman" panose="02020603050405020304" pitchFamily="18" charset="0"/>
                <a:cs typeface="Times New Roman" panose="02020603050405020304" pitchFamily="18" charset="0"/>
              </a:rPr>
              <a:t>is cleaner and ready for normalization and training.</a:t>
            </a:r>
            <a:endParaRPr lang="en-IN" sz="2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84BB0F4-F7B8-9461-3668-ADD0F340268F}"/>
              </a:ext>
            </a:extLst>
          </p:cNvPr>
          <p:cNvPicPr>
            <a:picLocks noChangeAspect="1"/>
          </p:cNvPicPr>
          <p:nvPr/>
        </p:nvPicPr>
        <p:blipFill>
          <a:blip r:embed="rId2"/>
          <a:stretch>
            <a:fillRect/>
          </a:stretch>
        </p:blipFill>
        <p:spPr>
          <a:xfrm>
            <a:off x="102744" y="245325"/>
            <a:ext cx="3761558" cy="566977"/>
          </a:xfrm>
          <a:prstGeom prst="rect">
            <a:avLst/>
          </a:prstGeom>
        </p:spPr>
      </p:pic>
      <p:pic>
        <p:nvPicPr>
          <p:cNvPr id="6" name="Picture 5">
            <a:extLst>
              <a:ext uri="{FF2B5EF4-FFF2-40B4-BE49-F238E27FC236}">
                <a16:creationId xmlns:a16="http://schemas.microsoft.com/office/drawing/2014/main" id="{BE4A68D1-96DB-8529-59FE-C2D455EFF8EE}"/>
              </a:ext>
            </a:extLst>
          </p:cNvPr>
          <p:cNvPicPr>
            <a:picLocks noChangeAspect="1"/>
          </p:cNvPicPr>
          <p:nvPr/>
        </p:nvPicPr>
        <p:blipFill>
          <a:blip r:embed="rId3"/>
          <a:stretch>
            <a:fillRect/>
          </a:stretch>
        </p:blipFill>
        <p:spPr>
          <a:xfrm>
            <a:off x="4572000" y="1868795"/>
            <a:ext cx="3761558" cy="2887562"/>
          </a:xfrm>
          <a:prstGeom prst="rect">
            <a:avLst/>
          </a:prstGeom>
        </p:spPr>
      </p:pic>
    </p:spTree>
    <p:extLst>
      <p:ext uri="{BB962C8B-B14F-4D97-AF65-F5344CB8AC3E}">
        <p14:creationId xmlns:p14="http://schemas.microsoft.com/office/powerpoint/2010/main" val="2837812486"/>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E1B37-5EC6-BE70-A086-7F1F5FC140DE}"/>
              </a:ext>
            </a:extLst>
          </p:cNvPr>
          <p:cNvSpPr>
            <a:spLocks noGrp="1"/>
          </p:cNvSpPr>
          <p:nvPr>
            <p:ph type="title"/>
          </p:nvPr>
        </p:nvSpPr>
        <p:spPr>
          <a:xfrm>
            <a:off x="3423424" y="701094"/>
            <a:ext cx="2794774" cy="671937"/>
          </a:xfrm>
        </p:spPr>
        <p:txBody>
          <a:bodyPr>
            <a:normAutofit/>
          </a:bodyPr>
          <a:lstStyle/>
          <a:p>
            <a:r>
              <a:rPr lang="en-US" sz="2800" b="1" dirty="0">
                <a:latin typeface="Times New Roman" panose="02020603050405020304" pitchFamily="18" charset="0"/>
                <a:cs typeface="Times New Roman" panose="02020603050405020304" pitchFamily="18" charset="0"/>
              </a:rPr>
              <a:t>Class Balancing</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F98ABBD-BD0E-FA9E-A722-554261EE19FD}"/>
              </a:ext>
            </a:extLst>
          </p:cNvPr>
          <p:cNvSpPr>
            <a:spLocks noGrp="1"/>
          </p:cNvSpPr>
          <p:nvPr>
            <p:ph idx="1"/>
          </p:nvPr>
        </p:nvSpPr>
        <p:spPr>
          <a:xfrm>
            <a:off x="628650" y="1373031"/>
            <a:ext cx="7886700" cy="4803932"/>
          </a:xfrm>
        </p:spPr>
        <p:txBody>
          <a:bodyPr>
            <a:normAutofit lnSpcReduction="10000"/>
          </a:bodyPr>
          <a:lstStyle/>
          <a:p>
            <a:pPr algn="just"/>
            <a:r>
              <a:rPr lang="en-IN" sz="2200" dirty="0">
                <a:latin typeface="Times New Roman" panose="02020603050405020304" pitchFamily="18" charset="0"/>
                <a:cs typeface="Times New Roman" panose="02020603050405020304" pitchFamily="18" charset="0"/>
              </a:rPr>
              <a:t>Used SMOTEENN for oversampling minority class and cleaning noisy samples.</a:t>
            </a:r>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The dataset </a:t>
            </a:r>
          </a:p>
          <a:p>
            <a:pPr marL="0" indent="0" algn="just">
              <a:buNone/>
            </a:pPr>
            <a:r>
              <a:rPr lang="en-US" sz="2200" dirty="0">
                <a:latin typeface="Times New Roman" panose="02020603050405020304" pitchFamily="18" charset="0"/>
                <a:cs typeface="Times New Roman" panose="02020603050405020304" pitchFamily="18" charset="0"/>
              </a:rPr>
              <a:t>became</a:t>
            </a:r>
            <a:r>
              <a:rPr lang="en-US" sz="2200" b="1" dirty="0">
                <a:latin typeface="Times New Roman" panose="02020603050405020304" pitchFamily="18" charset="0"/>
                <a:cs typeface="Times New Roman" panose="02020603050405020304" pitchFamily="18" charset="0"/>
              </a:rPr>
              <a:t> balanced</a:t>
            </a:r>
            <a:r>
              <a:rPr lang="en-US" sz="2200" dirty="0">
                <a:latin typeface="Times New Roman" panose="02020603050405020304" pitchFamily="18" charset="0"/>
                <a:cs typeface="Times New Roman" panose="02020603050405020304" pitchFamily="18" charset="0"/>
              </a:rPr>
              <a:t>,</a:t>
            </a:r>
          </a:p>
          <a:p>
            <a:pPr marL="0" indent="0" algn="just">
              <a:buNone/>
            </a:pPr>
            <a:r>
              <a:rPr lang="en-US" sz="2200" dirty="0">
                <a:latin typeface="Times New Roman" panose="02020603050405020304" pitchFamily="18" charset="0"/>
                <a:cs typeface="Times New Roman" panose="02020603050405020304" pitchFamily="18" charset="0"/>
              </a:rPr>
              <a:t> with equal or </a:t>
            </a:r>
          </a:p>
          <a:p>
            <a:pPr marL="0" indent="0" algn="just">
              <a:buNone/>
            </a:pPr>
            <a:r>
              <a:rPr lang="en-US" sz="2200" dirty="0">
                <a:latin typeface="Times New Roman" panose="02020603050405020304" pitchFamily="18" charset="0"/>
                <a:cs typeface="Times New Roman" panose="02020603050405020304" pitchFamily="18" charset="0"/>
              </a:rPr>
              <a:t>nearly equal </a:t>
            </a:r>
          </a:p>
          <a:p>
            <a:pPr marL="0" indent="0" algn="just">
              <a:buNone/>
            </a:pPr>
            <a:r>
              <a:rPr lang="en-US" sz="2200" dirty="0">
                <a:latin typeface="Times New Roman" panose="02020603050405020304" pitchFamily="18" charset="0"/>
                <a:cs typeface="Times New Roman" panose="02020603050405020304" pitchFamily="18" charset="0"/>
              </a:rPr>
              <a:t>samples in both </a:t>
            </a:r>
          </a:p>
          <a:p>
            <a:pPr marL="0" indent="0" algn="just">
              <a:buNone/>
            </a:pPr>
            <a:r>
              <a:rPr lang="en-US" sz="2200" dirty="0">
                <a:latin typeface="Times New Roman" panose="02020603050405020304" pitchFamily="18" charset="0"/>
                <a:cs typeface="Times New Roman" panose="02020603050405020304" pitchFamily="18" charset="0"/>
              </a:rPr>
              <a:t>classes.</a:t>
            </a:r>
          </a:p>
          <a:p>
            <a:pPr algn="just"/>
            <a:r>
              <a:rPr lang="en-US" sz="2200" dirty="0">
                <a:latin typeface="Times New Roman" panose="02020603050405020304" pitchFamily="18" charset="0"/>
                <a:cs typeface="Times New Roman" panose="02020603050405020304" pitchFamily="18" charset="0"/>
              </a:rPr>
              <a:t>Synthetic minority samples were created, increasing the number of “disease” cases.</a:t>
            </a:r>
          </a:p>
          <a:p>
            <a:pPr algn="just"/>
            <a:r>
              <a:rPr lang="en-US" sz="2200" dirty="0">
                <a:latin typeface="Times New Roman" panose="02020603050405020304" pitchFamily="18" charset="0"/>
                <a:cs typeface="Times New Roman" panose="02020603050405020304" pitchFamily="18" charset="0"/>
              </a:rPr>
              <a:t>Noisy and misclassified samples were removed, improving data quality.</a:t>
            </a:r>
          </a:p>
          <a:p>
            <a:pPr algn="just"/>
            <a:r>
              <a:rPr lang="en-US" sz="2200" dirty="0">
                <a:latin typeface="Times New Roman" panose="02020603050405020304" pitchFamily="18" charset="0"/>
                <a:cs typeface="Times New Roman" panose="02020603050405020304" pitchFamily="18" charset="0"/>
              </a:rPr>
              <a:t>The final dataset is cleaner, more stable, and better suited for accurate model training.</a:t>
            </a:r>
            <a:endParaRPr lang="en-IN" sz="2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C4670D0-2B0E-13BE-E533-E703245CDB9F}"/>
              </a:ext>
            </a:extLst>
          </p:cNvPr>
          <p:cNvPicPr>
            <a:picLocks noChangeAspect="1"/>
          </p:cNvPicPr>
          <p:nvPr/>
        </p:nvPicPr>
        <p:blipFill>
          <a:blip r:embed="rId2"/>
          <a:stretch>
            <a:fillRect/>
          </a:stretch>
        </p:blipFill>
        <p:spPr>
          <a:xfrm>
            <a:off x="145258" y="186597"/>
            <a:ext cx="3761558" cy="566977"/>
          </a:xfrm>
          <a:prstGeom prst="rect">
            <a:avLst/>
          </a:prstGeom>
        </p:spPr>
      </p:pic>
      <p:pic>
        <p:nvPicPr>
          <p:cNvPr id="6" name="Picture 5">
            <a:extLst>
              <a:ext uri="{FF2B5EF4-FFF2-40B4-BE49-F238E27FC236}">
                <a16:creationId xmlns:a16="http://schemas.microsoft.com/office/drawing/2014/main" id="{5B3F571E-2155-1DC5-EAF3-060BF312E5A1}"/>
              </a:ext>
            </a:extLst>
          </p:cNvPr>
          <p:cNvPicPr>
            <a:picLocks noChangeAspect="1"/>
          </p:cNvPicPr>
          <p:nvPr/>
        </p:nvPicPr>
        <p:blipFill>
          <a:blip r:embed="rId3"/>
          <a:stretch>
            <a:fillRect/>
          </a:stretch>
        </p:blipFill>
        <p:spPr>
          <a:xfrm>
            <a:off x="2837315" y="1992488"/>
            <a:ext cx="3195495" cy="2232713"/>
          </a:xfrm>
          <a:prstGeom prst="rect">
            <a:avLst/>
          </a:prstGeom>
        </p:spPr>
      </p:pic>
      <p:pic>
        <p:nvPicPr>
          <p:cNvPr id="8" name="Picture 7">
            <a:extLst>
              <a:ext uri="{FF2B5EF4-FFF2-40B4-BE49-F238E27FC236}">
                <a16:creationId xmlns:a16="http://schemas.microsoft.com/office/drawing/2014/main" id="{32FD79CA-9555-A430-EB9C-6D2C60F7A720}"/>
              </a:ext>
            </a:extLst>
          </p:cNvPr>
          <p:cNvPicPr>
            <a:picLocks noChangeAspect="1"/>
          </p:cNvPicPr>
          <p:nvPr/>
        </p:nvPicPr>
        <p:blipFill>
          <a:blip r:embed="rId4"/>
          <a:stretch>
            <a:fillRect/>
          </a:stretch>
        </p:blipFill>
        <p:spPr>
          <a:xfrm>
            <a:off x="5921298" y="1992488"/>
            <a:ext cx="2687443" cy="2232713"/>
          </a:xfrm>
          <a:prstGeom prst="rect">
            <a:avLst/>
          </a:prstGeom>
        </p:spPr>
      </p:pic>
    </p:spTree>
    <p:extLst>
      <p:ext uri="{BB962C8B-B14F-4D97-AF65-F5344CB8AC3E}">
        <p14:creationId xmlns:p14="http://schemas.microsoft.com/office/powerpoint/2010/main" val="317181296"/>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5231E-AEB0-40CB-63DE-80654275737E}"/>
              </a:ext>
            </a:extLst>
          </p:cNvPr>
          <p:cNvSpPr>
            <a:spLocks noGrp="1"/>
          </p:cNvSpPr>
          <p:nvPr>
            <p:ph type="title"/>
          </p:nvPr>
        </p:nvSpPr>
        <p:spPr>
          <a:xfrm>
            <a:off x="3598359" y="639764"/>
            <a:ext cx="1947282" cy="549274"/>
          </a:xfrm>
        </p:spPr>
        <p:txBody>
          <a:bodyPr>
            <a:normAutofit/>
          </a:bodyPr>
          <a:lstStyle/>
          <a:p>
            <a:r>
              <a:rPr lang="en-US" sz="2800" b="1" dirty="0">
                <a:latin typeface="Times New Roman" panose="02020603050405020304" pitchFamily="18" charset="0"/>
                <a:cs typeface="Times New Roman" panose="02020603050405020304" pitchFamily="18" charset="0"/>
              </a:rPr>
              <a:t>Algorithms </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18EBC83-7721-B1C2-6927-72D6E56D6EC0}"/>
              </a:ext>
            </a:extLst>
          </p:cNvPr>
          <p:cNvSpPr>
            <a:spLocks noGrp="1"/>
          </p:cNvSpPr>
          <p:nvPr>
            <p:ph idx="1"/>
          </p:nvPr>
        </p:nvSpPr>
        <p:spPr>
          <a:xfrm>
            <a:off x="628650" y="1360449"/>
            <a:ext cx="7886700" cy="4816514"/>
          </a:xfrm>
        </p:spPr>
        <p:txBody>
          <a:bodyPr>
            <a:normAutofit fontScale="85000" lnSpcReduction="10000"/>
          </a:bodyPr>
          <a:lstStyle/>
          <a:p>
            <a:pPr marL="0" indent="0" algn="just">
              <a:buNone/>
            </a:pPr>
            <a:r>
              <a:rPr lang="en-IN" sz="2600" b="1" dirty="0">
                <a:latin typeface="Times New Roman" panose="02020603050405020304" pitchFamily="18" charset="0"/>
                <a:cs typeface="Times New Roman" panose="02020603050405020304" pitchFamily="18" charset="0"/>
              </a:rPr>
              <a:t>BiLSTM (Bidirectional Long Short-Term Memory)</a:t>
            </a:r>
          </a:p>
          <a:p>
            <a:pPr algn="just"/>
            <a:r>
              <a:rPr lang="en-US" sz="2600" dirty="0">
                <a:latin typeface="Times New Roman" panose="02020603050405020304" pitchFamily="18" charset="0"/>
                <a:cs typeface="Times New Roman" panose="02020603050405020304" pitchFamily="18" charset="0"/>
              </a:rPr>
              <a:t>A deep learning model that processes data in </a:t>
            </a:r>
            <a:r>
              <a:rPr lang="en-US" sz="2600" b="1" dirty="0">
                <a:latin typeface="Times New Roman" panose="02020603050405020304" pitchFamily="18" charset="0"/>
                <a:cs typeface="Times New Roman" panose="02020603050405020304" pitchFamily="18" charset="0"/>
              </a:rPr>
              <a:t>both forward and backward directions</a:t>
            </a:r>
            <a:r>
              <a:rPr lang="en-US" sz="2600" dirty="0">
                <a:latin typeface="Times New Roman" panose="02020603050405020304" pitchFamily="18" charset="0"/>
                <a:cs typeface="Times New Roman" panose="02020603050405020304" pitchFamily="18" charset="0"/>
              </a:rPr>
              <a:t>.</a:t>
            </a:r>
          </a:p>
          <a:p>
            <a:pPr algn="just"/>
            <a:r>
              <a:rPr lang="en-US" sz="2600" dirty="0">
                <a:latin typeface="Times New Roman" panose="02020603050405020304" pitchFamily="18" charset="0"/>
                <a:cs typeface="Times New Roman" panose="02020603050405020304" pitchFamily="18" charset="0"/>
              </a:rPr>
              <a:t>Captures sequential patterns and dependencies between features.</a:t>
            </a:r>
          </a:p>
          <a:p>
            <a:pPr algn="just"/>
            <a:r>
              <a:rPr lang="en-US" sz="2600" dirty="0">
                <a:latin typeface="Times New Roman" panose="02020603050405020304" pitchFamily="18" charset="0"/>
                <a:cs typeface="Times New Roman" panose="02020603050405020304" pitchFamily="18" charset="0"/>
              </a:rPr>
              <a:t>Highly effective for learning </a:t>
            </a:r>
            <a:r>
              <a:rPr lang="en-US" sz="2600" b="1" dirty="0">
                <a:latin typeface="Times New Roman" panose="02020603050405020304" pitchFamily="18" charset="0"/>
                <a:cs typeface="Times New Roman" panose="02020603050405020304" pitchFamily="18" charset="0"/>
              </a:rPr>
              <a:t>nonlinear relationships</a:t>
            </a:r>
            <a:r>
              <a:rPr lang="en-US" sz="2600" dirty="0">
                <a:latin typeface="Times New Roman" panose="02020603050405020304" pitchFamily="18" charset="0"/>
                <a:cs typeface="Times New Roman" panose="02020603050405020304" pitchFamily="18" charset="0"/>
              </a:rPr>
              <a:t> in tabular clinical data.</a:t>
            </a:r>
          </a:p>
          <a:p>
            <a:pPr marL="0" indent="0" algn="just">
              <a:buNone/>
            </a:pPr>
            <a:r>
              <a:rPr lang="en-US" sz="2600" b="1" dirty="0">
                <a:latin typeface="Times New Roman" panose="02020603050405020304" pitchFamily="18" charset="0"/>
                <a:cs typeface="Times New Roman" panose="02020603050405020304" pitchFamily="18" charset="0"/>
              </a:rPr>
              <a:t>How it is useful :</a:t>
            </a:r>
          </a:p>
          <a:p>
            <a:pPr algn="just"/>
            <a:r>
              <a:rPr lang="en-US" sz="2600" dirty="0">
                <a:latin typeface="Times New Roman" panose="02020603050405020304" pitchFamily="18" charset="0"/>
                <a:cs typeface="Times New Roman" panose="02020603050405020304" pitchFamily="18" charset="0"/>
              </a:rPr>
              <a:t>Learns complex medical feature interactions (age, chol, thalach, oldpeak, etc.).</a:t>
            </a:r>
          </a:p>
          <a:p>
            <a:pPr algn="just"/>
            <a:r>
              <a:rPr lang="en-US" sz="2600" dirty="0">
                <a:latin typeface="Times New Roman" panose="02020603050405020304" pitchFamily="18" charset="0"/>
                <a:cs typeface="Times New Roman" panose="02020603050405020304" pitchFamily="18" charset="0"/>
              </a:rPr>
              <a:t>Extracts deeper patterns that simple ML models cannot detect.</a:t>
            </a:r>
          </a:p>
          <a:p>
            <a:pPr algn="just"/>
            <a:r>
              <a:rPr lang="en-IN" sz="2600" dirty="0">
                <a:latin typeface="Times New Roman" panose="02020603050405020304" pitchFamily="18" charset="0"/>
                <a:cs typeface="Times New Roman" panose="02020603050405020304" pitchFamily="18" charset="0"/>
              </a:rPr>
              <a:t>Improves feature representation before ensemble refinement.</a:t>
            </a:r>
          </a:p>
          <a:p>
            <a:pPr algn="just"/>
            <a:r>
              <a:rPr lang="en-US" sz="2600" dirty="0">
                <a:latin typeface="Times New Roman" panose="02020603050405020304" pitchFamily="18" charset="0"/>
                <a:cs typeface="Times New Roman" panose="02020603050405020304" pitchFamily="18" charset="0"/>
              </a:rPr>
              <a:t>Boosts accuracy and reduces false predictions.</a:t>
            </a:r>
            <a:br>
              <a:rPr lang="en-IN" sz="2400" dirty="0"/>
            </a:br>
            <a:br>
              <a:rPr lang="en-IN" sz="2400" dirty="0"/>
            </a:br>
            <a:endParaRPr lang="en-US" sz="2200" b="1" dirty="0">
              <a:latin typeface="Times New Roman" panose="02020603050405020304" pitchFamily="18" charset="0"/>
              <a:cs typeface="Times New Roman" panose="02020603050405020304" pitchFamily="18" charset="0"/>
            </a:endParaRPr>
          </a:p>
          <a:p>
            <a:pPr marL="0" indent="0" algn="just">
              <a:buNone/>
            </a:pPr>
            <a:endParaRPr lang="en-IN" sz="2200" b="1" dirty="0">
              <a:latin typeface="Times New Roman" panose="02020603050405020304" pitchFamily="18" charset="0"/>
              <a:cs typeface="Times New Roman" panose="02020603050405020304" pitchFamily="18" charset="0"/>
            </a:endParaRPr>
          </a:p>
          <a:p>
            <a:pPr algn="just"/>
            <a:endParaRPr lang="en-IN" b="1" dirty="0"/>
          </a:p>
        </p:txBody>
      </p:sp>
      <p:pic>
        <p:nvPicPr>
          <p:cNvPr id="4" name="Picture 3">
            <a:extLst>
              <a:ext uri="{FF2B5EF4-FFF2-40B4-BE49-F238E27FC236}">
                <a16:creationId xmlns:a16="http://schemas.microsoft.com/office/drawing/2014/main" id="{43921229-09B6-7C22-99C6-540410FA06B0}"/>
              </a:ext>
            </a:extLst>
          </p:cNvPr>
          <p:cNvPicPr>
            <a:picLocks noChangeAspect="1"/>
          </p:cNvPicPr>
          <p:nvPr/>
        </p:nvPicPr>
        <p:blipFill>
          <a:blip r:embed="rId2"/>
          <a:stretch>
            <a:fillRect/>
          </a:stretch>
        </p:blipFill>
        <p:spPr>
          <a:xfrm>
            <a:off x="126440" y="184864"/>
            <a:ext cx="3761558" cy="566977"/>
          </a:xfrm>
          <a:prstGeom prst="rect">
            <a:avLst/>
          </a:prstGeom>
        </p:spPr>
      </p:pic>
    </p:spTree>
    <p:extLst>
      <p:ext uri="{BB962C8B-B14F-4D97-AF65-F5344CB8AC3E}">
        <p14:creationId xmlns:p14="http://schemas.microsoft.com/office/powerpoint/2010/main" val="1271447262"/>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E39C9-270B-3667-716F-5087314ACAD6}"/>
              </a:ext>
            </a:extLst>
          </p:cNvPr>
          <p:cNvSpPr>
            <a:spLocks noGrp="1"/>
          </p:cNvSpPr>
          <p:nvPr>
            <p:ph type="title"/>
          </p:nvPr>
        </p:nvSpPr>
        <p:spPr>
          <a:xfrm>
            <a:off x="3059616" y="797167"/>
            <a:ext cx="3374638" cy="566977"/>
          </a:xfrm>
        </p:spPr>
        <p:txBody>
          <a:bodyPr>
            <a:normAutofit/>
          </a:bodyPr>
          <a:lstStyle/>
          <a:p>
            <a:r>
              <a:rPr lang="en-US" sz="2800" b="1" dirty="0">
                <a:latin typeface="Times New Roman" panose="02020603050405020304" pitchFamily="18" charset="0"/>
                <a:cs typeface="Times New Roman" panose="02020603050405020304" pitchFamily="18" charset="0"/>
              </a:rPr>
              <a:t>Random Forest (RF)</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481A9EA-EF61-66B5-F0AC-FE28E57204A8}"/>
              </a:ext>
            </a:extLst>
          </p:cNvPr>
          <p:cNvSpPr>
            <a:spLocks noGrp="1"/>
          </p:cNvSpPr>
          <p:nvPr>
            <p:ph idx="1"/>
          </p:nvPr>
        </p:nvSpPr>
        <p:spPr>
          <a:xfrm>
            <a:off x="628650" y="1364144"/>
            <a:ext cx="7886700" cy="4812819"/>
          </a:xfrm>
        </p:spPr>
        <p:txBody>
          <a:bodyPr>
            <a:normAutofit/>
          </a:bodyPr>
          <a:lstStyle/>
          <a:p>
            <a:pPr algn="just"/>
            <a:r>
              <a:rPr lang="en-IN" sz="2400" dirty="0">
                <a:latin typeface="Times New Roman" panose="02020603050405020304" pitchFamily="18" charset="0"/>
                <a:cs typeface="Times New Roman" panose="02020603050405020304" pitchFamily="18" charset="0"/>
              </a:rPr>
              <a:t>A supervised ML algorithm that finds the best separating boundary (hyperplane) between classes.</a:t>
            </a:r>
          </a:p>
          <a:p>
            <a:pPr algn="just"/>
            <a:r>
              <a:rPr lang="en-US" sz="2400" dirty="0">
                <a:latin typeface="Times New Roman" panose="02020603050405020304" pitchFamily="18" charset="0"/>
                <a:cs typeface="Times New Roman" panose="02020603050405020304" pitchFamily="18" charset="0"/>
              </a:rPr>
              <a:t>An ensemble of many decision trees.</a:t>
            </a:r>
          </a:p>
          <a:p>
            <a:pPr algn="just"/>
            <a:r>
              <a:rPr lang="en-US" sz="2400" dirty="0">
                <a:latin typeface="Times New Roman" panose="02020603050405020304" pitchFamily="18" charset="0"/>
                <a:cs typeface="Times New Roman" panose="02020603050405020304" pitchFamily="18" charset="0"/>
              </a:rPr>
              <a:t>Uses bagging (bootstrap aggregating) to reduce variance.</a:t>
            </a:r>
          </a:p>
          <a:p>
            <a:pPr algn="just"/>
            <a:r>
              <a:rPr lang="en-US" sz="2400" dirty="0">
                <a:latin typeface="Times New Roman" panose="02020603050405020304" pitchFamily="18" charset="0"/>
                <a:cs typeface="Times New Roman" panose="02020603050405020304" pitchFamily="18" charset="0"/>
              </a:rPr>
              <a:t>Produces stable and reliable outputs.</a:t>
            </a:r>
          </a:p>
          <a:p>
            <a:pPr marL="0" indent="0" algn="just">
              <a:buNone/>
            </a:pPr>
            <a:r>
              <a:rPr lang="en-US" sz="2400" b="1" dirty="0">
                <a:latin typeface="Times New Roman" panose="02020603050405020304" pitchFamily="18" charset="0"/>
                <a:cs typeface="Times New Roman" panose="02020603050405020304" pitchFamily="18" charset="0"/>
              </a:rPr>
              <a:t>How it is useful :</a:t>
            </a:r>
          </a:p>
          <a:p>
            <a:pPr algn="just"/>
            <a:r>
              <a:rPr lang="en-US" sz="2400" dirty="0">
                <a:latin typeface="Times New Roman" panose="02020603050405020304" pitchFamily="18" charset="0"/>
                <a:cs typeface="Times New Roman" panose="02020603050405020304" pitchFamily="18" charset="0"/>
              </a:rPr>
              <a:t>Handles nonlinear clinical data very well.</a:t>
            </a:r>
          </a:p>
          <a:p>
            <a:pPr algn="just"/>
            <a:r>
              <a:rPr lang="en-US" sz="2400" dirty="0">
                <a:latin typeface="Times New Roman" panose="02020603050405020304" pitchFamily="18" charset="0"/>
                <a:cs typeface="Times New Roman" panose="02020603050405020304" pitchFamily="18" charset="0"/>
              </a:rPr>
              <a:t>Reduces overfitting with multiple trees.</a:t>
            </a:r>
          </a:p>
          <a:p>
            <a:pPr algn="just"/>
            <a:r>
              <a:rPr lang="en-US" sz="2400" dirty="0">
                <a:latin typeface="Times New Roman" panose="02020603050405020304" pitchFamily="18" charset="0"/>
                <a:cs typeface="Times New Roman" panose="02020603050405020304" pitchFamily="18" charset="0"/>
              </a:rPr>
              <a:t>Provides strong baseline predictions for the HREF framework.</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38D3945-2005-DD2F-B11C-D33E994B9E82}"/>
              </a:ext>
            </a:extLst>
          </p:cNvPr>
          <p:cNvPicPr>
            <a:picLocks noChangeAspect="1"/>
          </p:cNvPicPr>
          <p:nvPr/>
        </p:nvPicPr>
        <p:blipFill>
          <a:blip r:embed="rId2"/>
          <a:stretch>
            <a:fillRect/>
          </a:stretch>
        </p:blipFill>
        <p:spPr>
          <a:xfrm>
            <a:off x="126441" y="230190"/>
            <a:ext cx="3761558" cy="566977"/>
          </a:xfrm>
          <a:prstGeom prst="rect">
            <a:avLst/>
          </a:prstGeom>
        </p:spPr>
      </p:pic>
    </p:spTree>
    <p:extLst>
      <p:ext uri="{BB962C8B-B14F-4D97-AF65-F5344CB8AC3E}">
        <p14:creationId xmlns:p14="http://schemas.microsoft.com/office/powerpoint/2010/main" val="2304204476"/>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FF48F-BF5B-0D74-6006-264563646F48}"/>
              </a:ext>
            </a:extLst>
          </p:cNvPr>
          <p:cNvSpPr>
            <a:spLocks noGrp="1"/>
          </p:cNvSpPr>
          <p:nvPr>
            <p:ph type="title"/>
          </p:nvPr>
        </p:nvSpPr>
        <p:spPr>
          <a:xfrm>
            <a:off x="2357089" y="866931"/>
            <a:ext cx="4924657" cy="749996"/>
          </a:xfrm>
        </p:spPr>
        <p:txBody>
          <a:bodyPr>
            <a:normAutofit/>
          </a:bodyPr>
          <a:lstStyle/>
          <a:p>
            <a:r>
              <a:rPr lang="en-US" sz="2800" b="1" dirty="0">
                <a:latin typeface="Times New Roman" panose="02020603050405020304" pitchFamily="18" charset="0"/>
                <a:cs typeface="Times New Roman" panose="02020603050405020304" pitchFamily="18" charset="0"/>
              </a:rPr>
              <a:t>AdaBoost (Adaptive Boosting)</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7F93CA2-F0B4-764F-5F34-AD4216DBDA51}"/>
              </a:ext>
            </a:extLst>
          </p:cNvPr>
          <p:cNvSpPr>
            <a:spLocks noGrp="1"/>
          </p:cNvSpPr>
          <p:nvPr>
            <p:ph idx="1"/>
          </p:nvPr>
        </p:nvSpPr>
        <p:spPr/>
        <p:txBody>
          <a:bodyPr>
            <a:normAutofit fontScale="92500"/>
          </a:bodyPr>
          <a:lstStyle/>
          <a:p>
            <a:pPr algn="just"/>
            <a:r>
              <a:rPr lang="en-IN" sz="2400" dirty="0">
                <a:latin typeface="Times New Roman" panose="02020603050405020304" pitchFamily="18" charset="0"/>
                <a:cs typeface="Times New Roman" panose="02020603050405020304" pitchFamily="18" charset="0"/>
              </a:rPr>
              <a:t>A boosting ensemble technique that combines many weak learners into one strong model.</a:t>
            </a:r>
          </a:p>
          <a:p>
            <a:pPr algn="just"/>
            <a:r>
              <a:rPr lang="en-US" sz="2400" dirty="0">
                <a:latin typeface="Times New Roman" panose="02020603050405020304" pitchFamily="18" charset="0"/>
                <a:cs typeface="Times New Roman" panose="02020603050405020304" pitchFamily="18" charset="0"/>
              </a:rPr>
              <a:t>A boosting algorithm that focuses on misclassified samples.</a:t>
            </a:r>
          </a:p>
          <a:p>
            <a:pPr algn="just"/>
            <a:r>
              <a:rPr lang="en-US" sz="2400" dirty="0">
                <a:latin typeface="Times New Roman" panose="02020603050405020304" pitchFamily="18" charset="0"/>
                <a:cs typeface="Times New Roman" panose="02020603050405020304" pitchFamily="18" charset="0"/>
              </a:rPr>
              <a:t>Each new learner focuses more on the </a:t>
            </a:r>
            <a:r>
              <a:rPr lang="en-US" sz="2400" b="1" dirty="0">
                <a:latin typeface="Times New Roman" panose="02020603050405020304" pitchFamily="18" charset="0"/>
                <a:cs typeface="Times New Roman" panose="02020603050405020304" pitchFamily="18" charset="0"/>
              </a:rPr>
              <a:t>misclassified samples</a:t>
            </a:r>
            <a:r>
              <a:rPr lang="en-US" sz="2400" dirty="0">
                <a:latin typeface="Times New Roman" panose="02020603050405020304" pitchFamily="18" charset="0"/>
                <a:cs typeface="Times New Roman" panose="02020603050405020304" pitchFamily="18" charset="0"/>
              </a:rPr>
              <a:t> from previous learners.</a:t>
            </a:r>
          </a:p>
          <a:p>
            <a:pPr marL="0" indent="0" algn="just">
              <a:buNone/>
            </a:pPr>
            <a:r>
              <a:rPr lang="en-US" sz="2400" b="1" dirty="0">
                <a:latin typeface="Times New Roman" panose="02020603050405020304" pitchFamily="18" charset="0"/>
                <a:cs typeface="Times New Roman" panose="02020603050405020304" pitchFamily="18" charset="0"/>
              </a:rPr>
              <a:t>How it is useful :</a:t>
            </a:r>
          </a:p>
          <a:p>
            <a:pPr algn="just"/>
            <a:r>
              <a:rPr lang="en-US" sz="2400" dirty="0">
                <a:latin typeface="Times New Roman" panose="02020603050405020304" pitchFamily="18" charset="0"/>
                <a:cs typeface="Times New Roman" panose="02020603050405020304" pitchFamily="18" charset="0"/>
              </a:rPr>
              <a:t>Helps improve classification of difficult heart disease samples.</a:t>
            </a:r>
          </a:p>
          <a:p>
            <a:pPr algn="just"/>
            <a:r>
              <a:rPr lang="en-US" sz="2400" dirty="0">
                <a:latin typeface="Times New Roman" panose="02020603050405020304" pitchFamily="18" charset="0"/>
                <a:cs typeface="Times New Roman" panose="02020603050405020304" pitchFamily="18" charset="0"/>
              </a:rPr>
              <a:t>Increases recall by correctly identifying more “disease” cases.</a:t>
            </a:r>
          </a:p>
          <a:p>
            <a:pPr algn="just"/>
            <a:r>
              <a:rPr lang="en-US" sz="2400" dirty="0">
                <a:latin typeface="Times New Roman" panose="02020603050405020304" pitchFamily="18" charset="0"/>
                <a:cs typeface="Times New Roman" panose="02020603050405020304" pitchFamily="18" charset="0"/>
              </a:rPr>
              <a:t>Enhances overall performance when combined with RF and BiLSTM.</a:t>
            </a:r>
            <a:br>
              <a:rPr lang="en-US" dirty="0"/>
            </a:br>
            <a:endParaRPr lang="en-IN" dirty="0"/>
          </a:p>
        </p:txBody>
      </p:sp>
      <p:pic>
        <p:nvPicPr>
          <p:cNvPr id="4" name="Picture 3">
            <a:extLst>
              <a:ext uri="{FF2B5EF4-FFF2-40B4-BE49-F238E27FC236}">
                <a16:creationId xmlns:a16="http://schemas.microsoft.com/office/drawing/2014/main" id="{E4CBA88D-8FF0-D05B-D9D5-9963ACB0C0A0}"/>
              </a:ext>
            </a:extLst>
          </p:cNvPr>
          <p:cNvPicPr>
            <a:picLocks noChangeAspect="1"/>
          </p:cNvPicPr>
          <p:nvPr/>
        </p:nvPicPr>
        <p:blipFill>
          <a:blip r:embed="rId2"/>
          <a:stretch>
            <a:fillRect/>
          </a:stretch>
        </p:blipFill>
        <p:spPr>
          <a:xfrm>
            <a:off x="171046" y="299954"/>
            <a:ext cx="3761558" cy="566977"/>
          </a:xfrm>
          <a:prstGeom prst="rect">
            <a:avLst/>
          </a:prstGeom>
        </p:spPr>
      </p:pic>
    </p:spTree>
    <p:extLst>
      <p:ext uri="{BB962C8B-B14F-4D97-AF65-F5344CB8AC3E}">
        <p14:creationId xmlns:p14="http://schemas.microsoft.com/office/powerpoint/2010/main" val="233614453"/>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DD818-E3BB-DABE-E317-93403EF7E23C}"/>
              </a:ext>
            </a:extLst>
          </p:cNvPr>
          <p:cNvSpPr>
            <a:spLocks noGrp="1"/>
          </p:cNvSpPr>
          <p:nvPr>
            <p:ph type="title"/>
          </p:nvPr>
        </p:nvSpPr>
        <p:spPr>
          <a:xfrm>
            <a:off x="2334786" y="959005"/>
            <a:ext cx="5080774" cy="593879"/>
          </a:xfrm>
        </p:spPr>
        <p:txBody>
          <a:bodyPr>
            <a:normAutofit/>
          </a:bodyPr>
          <a:lstStyle/>
          <a:p>
            <a:r>
              <a:rPr lang="en-US" sz="2800" b="1" dirty="0">
                <a:latin typeface="Times New Roman" panose="02020603050405020304" pitchFamily="18" charset="0"/>
                <a:cs typeface="Times New Roman" panose="02020603050405020304" pitchFamily="18" charset="0"/>
              </a:rPr>
              <a:t>Support Vector Machine (SVM)</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7C422EB-E93C-1187-F2B0-D26AC88EFD13}"/>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Finds the best hyperplane that separates the two classes.</a:t>
            </a:r>
          </a:p>
          <a:p>
            <a:pPr algn="just"/>
            <a:r>
              <a:rPr lang="en-IN" sz="2400" dirty="0">
                <a:latin typeface="Times New Roman" panose="02020603050405020304" pitchFamily="18" charset="0"/>
                <a:cs typeface="Times New Roman" panose="02020603050405020304" pitchFamily="18" charset="0"/>
              </a:rPr>
              <a:t>Effective for high-dimensional data.</a:t>
            </a:r>
          </a:p>
          <a:p>
            <a:pPr algn="just"/>
            <a:r>
              <a:rPr lang="en-IN" sz="2400" dirty="0">
                <a:latin typeface="Times New Roman" panose="02020603050405020304" pitchFamily="18" charset="0"/>
                <a:cs typeface="Times New Roman" panose="02020603050405020304" pitchFamily="18" charset="0"/>
              </a:rPr>
              <a:t>Uses kernels (RBF) for nonlinear classification.</a:t>
            </a:r>
          </a:p>
          <a:p>
            <a:pPr marL="0" indent="0" algn="just">
              <a:buNone/>
            </a:pPr>
            <a:r>
              <a:rPr lang="en-IN" sz="2400" b="1" dirty="0">
                <a:latin typeface="Times New Roman" panose="02020603050405020304" pitchFamily="18" charset="0"/>
                <a:cs typeface="Times New Roman" panose="02020603050405020304" pitchFamily="18" charset="0"/>
              </a:rPr>
              <a:t>How it is useful :</a:t>
            </a:r>
          </a:p>
          <a:p>
            <a:pPr algn="just"/>
            <a:r>
              <a:rPr lang="en-US" sz="2400" dirty="0">
                <a:latin typeface="Times New Roman" panose="02020603050405020304" pitchFamily="18" charset="0"/>
                <a:cs typeface="Times New Roman" panose="02020603050405020304" pitchFamily="18" charset="0"/>
              </a:rPr>
              <a:t>Provides clear class boundaries for disease vs no disease.</a:t>
            </a:r>
          </a:p>
          <a:p>
            <a:pPr algn="just"/>
            <a:r>
              <a:rPr lang="en-US" sz="2400" dirty="0">
                <a:latin typeface="Times New Roman" panose="02020603050405020304" pitchFamily="18" charset="0"/>
                <a:cs typeface="Times New Roman" panose="02020603050405020304" pitchFamily="18" charset="0"/>
              </a:rPr>
              <a:t>Adds diversity to the ensemble, improving HREF decision quality.</a:t>
            </a:r>
          </a:p>
          <a:p>
            <a:pPr algn="just"/>
            <a:r>
              <a:rPr lang="en-US" sz="2400" dirty="0">
                <a:latin typeface="Times New Roman" panose="02020603050405020304" pitchFamily="18" charset="0"/>
                <a:cs typeface="Times New Roman" panose="02020603050405020304" pitchFamily="18" charset="0"/>
              </a:rPr>
              <a:t>Handles small sample size well (Cleveland dataset = 303 samples).</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EDE1FB5-F729-8E0C-9564-555A52DA3C77}"/>
              </a:ext>
            </a:extLst>
          </p:cNvPr>
          <p:cNvPicPr>
            <a:picLocks noChangeAspect="1"/>
          </p:cNvPicPr>
          <p:nvPr/>
        </p:nvPicPr>
        <p:blipFill>
          <a:blip r:embed="rId2"/>
          <a:stretch>
            <a:fillRect/>
          </a:stretch>
        </p:blipFill>
        <p:spPr>
          <a:xfrm>
            <a:off x="282557" y="255657"/>
            <a:ext cx="3761558" cy="566977"/>
          </a:xfrm>
          <a:prstGeom prst="rect">
            <a:avLst/>
          </a:prstGeom>
        </p:spPr>
      </p:pic>
    </p:spTree>
    <p:extLst>
      <p:ext uri="{BB962C8B-B14F-4D97-AF65-F5344CB8AC3E}">
        <p14:creationId xmlns:p14="http://schemas.microsoft.com/office/powerpoint/2010/main" val="239539219"/>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B1B4A-EE93-A31E-22D9-4CAD06A65DEE}"/>
              </a:ext>
            </a:extLst>
          </p:cNvPr>
          <p:cNvSpPr>
            <a:spLocks noGrp="1"/>
          </p:cNvSpPr>
          <p:nvPr>
            <p:ph type="title"/>
          </p:nvPr>
        </p:nvSpPr>
        <p:spPr>
          <a:xfrm>
            <a:off x="1081668" y="967292"/>
            <a:ext cx="7433682" cy="705391"/>
          </a:xfrm>
        </p:spPr>
        <p:txBody>
          <a:bodyPr>
            <a:normAutofit/>
          </a:bodyPr>
          <a:lstStyle/>
          <a:p>
            <a:r>
              <a:rPr lang="en-US" sz="2800" b="1" dirty="0">
                <a:latin typeface="Times New Roman" panose="02020603050405020304" pitchFamily="18" charset="0"/>
                <a:cs typeface="Times New Roman" panose="02020603050405020304" pitchFamily="18" charset="0"/>
              </a:rPr>
              <a:t>Hybrid Refined Ensemble Framework (HREF)</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199EBF0-2592-F69C-5028-6C1C763DA89A}"/>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Combines predictions from BiLSTM, RF, SVM, and AdaBoost.</a:t>
            </a:r>
          </a:p>
          <a:p>
            <a:pPr algn="just"/>
            <a:r>
              <a:rPr lang="en-US" sz="2400" dirty="0">
                <a:latin typeface="Times New Roman" panose="02020603050405020304" pitchFamily="18" charset="0"/>
                <a:cs typeface="Times New Roman" panose="02020603050405020304" pitchFamily="18" charset="0"/>
              </a:rPr>
              <a:t>Uses a </a:t>
            </a:r>
            <a:r>
              <a:rPr lang="en-US" sz="2400" b="1" dirty="0">
                <a:latin typeface="Times New Roman" panose="02020603050405020304" pitchFamily="18" charset="0"/>
                <a:cs typeface="Times New Roman" panose="02020603050405020304" pitchFamily="18" charset="0"/>
              </a:rPr>
              <a:t>meta-learner</a:t>
            </a:r>
            <a:r>
              <a:rPr lang="en-US" sz="2400" dirty="0">
                <a:latin typeface="Times New Roman" panose="02020603050405020304" pitchFamily="18" charset="0"/>
                <a:cs typeface="Times New Roman" panose="02020603050405020304" pitchFamily="18" charset="0"/>
              </a:rPr>
              <a:t> (stacking) to refine final output.</a:t>
            </a:r>
          </a:p>
          <a:p>
            <a:pPr algn="just"/>
            <a:r>
              <a:rPr lang="en-IN" sz="2400" dirty="0">
                <a:latin typeface="Times New Roman" panose="02020603050405020304" pitchFamily="18" charset="0"/>
                <a:cs typeface="Times New Roman" panose="02020603050405020304" pitchFamily="18" charset="0"/>
              </a:rPr>
              <a:t>Reduces model error and improves generalization.</a:t>
            </a:r>
          </a:p>
          <a:p>
            <a:pPr marL="0" indent="0" algn="just">
              <a:buNone/>
            </a:pPr>
            <a:r>
              <a:rPr lang="en-IN" sz="2400" b="1" dirty="0">
                <a:latin typeface="Times New Roman" panose="02020603050405020304" pitchFamily="18" charset="0"/>
                <a:cs typeface="Times New Roman" panose="02020603050405020304" pitchFamily="18" charset="0"/>
              </a:rPr>
              <a:t>How it is useful :</a:t>
            </a:r>
          </a:p>
          <a:p>
            <a:pPr algn="just"/>
            <a:r>
              <a:rPr lang="en-US" sz="2400" dirty="0">
                <a:latin typeface="Times New Roman" panose="02020603050405020304" pitchFamily="18" charset="0"/>
                <a:cs typeface="Times New Roman" panose="02020603050405020304" pitchFamily="18" charset="0"/>
              </a:rPr>
              <a:t>Integrates strengths of deep learning + machine learning.</a:t>
            </a:r>
          </a:p>
          <a:p>
            <a:pPr algn="just"/>
            <a:r>
              <a:rPr lang="en-US" sz="2400" dirty="0">
                <a:latin typeface="Times New Roman" panose="02020603050405020304" pitchFamily="18" charset="0"/>
                <a:cs typeface="Times New Roman" panose="02020603050405020304" pitchFamily="18" charset="0"/>
              </a:rPr>
              <a:t>Improves accuracy from 90.6% (BiLSTM alone) to </a:t>
            </a:r>
            <a:r>
              <a:rPr lang="en-US" sz="2400" b="1" dirty="0">
                <a:latin typeface="Times New Roman" panose="02020603050405020304" pitchFamily="18" charset="0"/>
                <a:cs typeface="Times New Roman" panose="02020603050405020304" pitchFamily="18" charset="0"/>
              </a:rPr>
              <a:t>94.7%</a:t>
            </a:r>
            <a:r>
              <a:rPr lang="en-US" sz="2400" dirty="0">
                <a:latin typeface="Times New Roman" panose="02020603050405020304" pitchFamily="18" charset="0"/>
                <a:cs typeface="Times New Roman" panose="02020603050405020304" pitchFamily="18" charset="0"/>
              </a:rPr>
              <a:t>.</a:t>
            </a:r>
          </a:p>
          <a:p>
            <a:pPr algn="just"/>
            <a:r>
              <a:rPr lang="en-IN" sz="2400" dirty="0">
                <a:latin typeface="Times New Roman" panose="02020603050405020304" pitchFamily="18" charset="0"/>
                <a:cs typeface="Times New Roman" panose="02020603050405020304" pitchFamily="18" charset="0"/>
              </a:rPr>
              <a:t>Reduces false positives and false negatives.</a:t>
            </a:r>
          </a:p>
          <a:p>
            <a:pPr algn="just"/>
            <a:r>
              <a:rPr lang="en-IN" sz="2400" dirty="0">
                <a:latin typeface="Times New Roman" panose="02020603050405020304" pitchFamily="18" charset="0"/>
                <a:cs typeface="Times New Roman" panose="02020603050405020304" pitchFamily="18" charset="0"/>
              </a:rPr>
              <a:t>Produces more reliable clinical predictions.</a:t>
            </a:r>
            <a:endParaRPr lang="en-IN" sz="2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A057342-E820-93D0-0081-60C14A23E904}"/>
              </a:ext>
            </a:extLst>
          </p:cNvPr>
          <p:cNvPicPr>
            <a:picLocks noChangeAspect="1"/>
          </p:cNvPicPr>
          <p:nvPr/>
        </p:nvPicPr>
        <p:blipFill>
          <a:blip r:embed="rId2"/>
          <a:stretch>
            <a:fillRect/>
          </a:stretch>
        </p:blipFill>
        <p:spPr>
          <a:xfrm>
            <a:off x="182197" y="323844"/>
            <a:ext cx="3761558" cy="566977"/>
          </a:xfrm>
          <a:prstGeom prst="rect">
            <a:avLst/>
          </a:prstGeom>
        </p:spPr>
      </p:pic>
    </p:spTree>
    <p:extLst>
      <p:ext uri="{BB962C8B-B14F-4D97-AF65-F5344CB8AC3E}">
        <p14:creationId xmlns:p14="http://schemas.microsoft.com/office/powerpoint/2010/main" val="4168211885"/>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58309-5389-A153-B2CA-5276664D4606}"/>
              </a:ext>
            </a:extLst>
          </p:cNvPr>
          <p:cNvSpPr>
            <a:spLocks noGrp="1"/>
          </p:cNvSpPr>
          <p:nvPr>
            <p:ph type="title"/>
          </p:nvPr>
        </p:nvSpPr>
        <p:spPr>
          <a:xfrm>
            <a:off x="3182279" y="879354"/>
            <a:ext cx="3619965" cy="432041"/>
          </a:xfrm>
        </p:spPr>
        <p:txBody>
          <a:bodyPr>
            <a:normAutofit fontScale="90000"/>
          </a:bodyPr>
          <a:lstStyle/>
          <a:p>
            <a:r>
              <a:rPr lang="en-US" sz="2800" b="1" dirty="0">
                <a:latin typeface="Times New Roman" panose="02020603050405020304" pitchFamily="18" charset="0"/>
                <a:cs typeface="Times New Roman" panose="02020603050405020304" pitchFamily="18" charset="0"/>
              </a:rPr>
              <a:t>IMPLEMENTATION</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489FEE9-D7A1-8625-5C70-A63995C8F3FD}"/>
              </a:ext>
            </a:extLst>
          </p:cNvPr>
          <p:cNvSpPr>
            <a:spLocks noGrp="1"/>
          </p:cNvSpPr>
          <p:nvPr>
            <p:ph idx="1"/>
          </p:nvPr>
        </p:nvSpPr>
        <p:spPr>
          <a:xfrm>
            <a:off x="628650" y="1393582"/>
            <a:ext cx="7886700" cy="4783381"/>
          </a:xfrm>
        </p:spPr>
        <p:txBody>
          <a:bodyPr/>
          <a:lstStyle/>
          <a:p>
            <a:pPr marL="0" indent="0" algn="just">
              <a:buNone/>
            </a:pPr>
            <a:r>
              <a:rPr lang="en-US" sz="2400" b="1" dirty="0">
                <a:latin typeface="Times New Roman" panose="02020603050405020304" pitchFamily="18" charset="0"/>
                <a:cs typeface="Times New Roman" panose="02020603050405020304" pitchFamily="18" charset="0"/>
              </a:rPr>
              <a:t>Software specifications</a:t>
            </a:r>
          </a:p>
          <a:p>
            <a:pPr algn="just"/>
            <a:r>
              <a:rPr lang="en-IN" sz="2400" b="1" dirty="0">
                <a:latin typeface="Times New Roman" panose="02020603050405020304" pitchFamily="18" charset="0"/>
                <a:cs typeface="Times New Roman" panose="02020603050405020304" pitchFamily="18" charset="0"/>
              </a:rPr>
              <a:t>Programming Language:</a:t>
            </a:r>
            <a:r>
              <a:rPr lang="en-IN" sz="2400" dirty="0">
                <a:latin typeface="Times New Roman" panose="02020603050405020304" pitchFamily="18" charset="0"/>
                <a:cs typeface="Times New Roman" panose="02020603050405020304" pitchFamily="18" charset="0"/>
              </a:rPr>
              <a:t> Python 3.10</a:t>
            </a:r>
          </a:p>
          <a:p>
            <a:pPr algn="just"/>
            <a:r>
              <a:rPr lang="en-US" sz="2400" b="1" dirty="0">
                <a:latin typeface="Times New Roman" panose="02020603050405020304" pitchFamily="18" charset="0"/>
                <a:cs typeface="Times New Roman" panose="02020603050405020304" pitchFamily="18" charset="0"/>
              </a:rPr>
              <a:t>Deep Learning Framework:</a:t>
            </a:r>
            <a:r>
              <a:rPr lang="en-US" sz="2400" dirty="0">
                <a:latin typeface="Times New Roman" panose="02020603050405020304" pitchFamily="18" charset="0"/>
                <a:cs typeface="Times New Roman" panose="02020603050405020304" pitchFamily="18" charset="0"/>
              </a:rPr>
              <a:t> TensorFlow / Keras for implementing BiLSTM architecture</a:t>
            </a:r>
          </a:p>
          <a:p>
            <a:pPr algn="just"/>
            <a:r>
              <a:rPr lang="en-US" sz="2400" b="1" dirty="0">
                <a:latin typeface="Times New Roman" panose="02020603050405020304" pitchFamily="18" charset="0"/>
                <a:cs typeface="Times New Roman" panose="02020603050405020304" pitchFamily="18" charset="0"/>
              </a:rPr>
              <a:t>ML Libraries:</a:t>
            </a:r>
            <a:r>
              <a:rPr lang="en-US" sz="2400" dirty="0">
                <a:latin typeface="Times New Roman" panose="02020603050405020304" pitchFamily="18" charset="0"/>
                <a:cs typeface="Times New Roman" panose="02020603050405020304" pitchFamily="18" charset="0"/>
              </a:rPr>
              <a:t> Scikit-learn for Random Forest, SVM, AdaBoost &amp; evaluation metrics</a:t>
            </a:r>
          </a:p>
          <a:p>
            <a:pPr algn="just"/>
            <a:r>
              <a:rPr lang="en-US" sz="2400" b="1" dirty="0">
                <a:latin typeface="Times New Roman" panose="02020603050405020304" pitchFamily="18" charset="0"/>
                <a:cs typeface="Times New Roman" panose="02020603050405020304" pitchFamily="18" charset="0"/>
              </a:rPr>
              <a:t>Class Balancing Library:</a:t>
            </a:r>
            <a:r>
              <a:rPr lang="en-US" sz="2400" dirty="0">
                <a:latin typeface="Times New Roman" panose="02020603050405020304" pitchFamily="18" charset="0"/>
                <a:cs typeface="Times New Roman" panose="02020603050405020304" pitchFamily="18" charset="0"/>
              </a:rPr>
              <a:t> Imbalanced-learn (SMOTEENN)</a:t>
            </a:r>
          </a:p>
          <a:p>
            <a:pPr algn="just"/>
            <a:r>
              <a:rPr lang="en-IN" sz="2400" b="1" dirty="0">
                <a:latin typeface="Times New Roman" panose="02020603050405020304" pitchFamily="18" charset="0"/>
                <a:cs typeface="Times New Roman" panose="02020603050405020304" pitchFamily="18" charset="0"/>
              </a:rPr>
              <a:t>Data Handling:</a:t>
            </a:r>
            <a:r>
              <a:rPr lang="en-IN" sz="2400" dirty="0">
                <a:latin typeface="Times New Roman" panose="02020603050405020304" pitchFamily="18" charset="0"/>
                <a:cs typeface="Times New Roman" panose="02020603050405020304" pitchFamily="18" charset="0"/>
              </a:rPr>
              <a:t> Pandas, NumPy</a:t>
            </a:r>
          </a:p>
          <a:p>
            <a:pPr algn="just"/>
            <a:r>
              <a:rPr lang="en-IN" sz="2400" b="1" dirty="0">
                <a:latin typeface="Times New Roman" panose="02020603050405020304" pitchFamily="18" charset="0"/>
                <a:cs typeface="Times New Roman" panose="02020603050405020304" pitchFamily="18" charset="0"/>
              </a:rPr>
              <a:t>Visualization Tools:</a:t>
            </a:r>
            <a:r>
              <a:rPr lang="en-IN" sz="2400" dirty="0">
                <a:latin typeface="Times New Roman" panose="02020603050405020304" pitchFamily="18" charset="0"/>
                <a:cs typeface="Times New Roman" panose="02020603050405020304" pitchFamily="18" charset="0"/>
              </a:rPr>
              <a:t> Matplotlib, Seaborn</a:t>
            </a:r>
          </a:p>
          <a:p>
            <a:pPr algn="just"/>
            <a:r>
              <a:rPr lang="en-IN" sz="2400" b="1" dirty="0">
                <a:latin typeface="Times New Roman" panose="02020603050405020304" pitchFamily="18" charset="0"/>
                <a:cs typeface="Times New Roman" panose="02020603050405020304" pitchFamily="18" charset="0"/>
              </a:rPr>
              <a:t>Environment:</a:t>
            </a:r>
            <a:r>
              <a:rPr lang="en-IN" sz="2400" dirty="0">
                <a:latin typeface="Times New Roman" panose="02020603050405020304" pitchFamily="18" charset="0"/>
                <a:cs typeface="Times New Roman" panose="02020603050405020304" pitchFamily="18" charset="0"/>
              </a:rPr>
              <a:t> Google Colab / Jupyter Notebook (GPU supported environment recommended)</a:t>
            </a:r>
          </a:p>
          <a:p>
            <a:pPr marL="0" indent="0">
              <a:buNone/>
            </a:pPr>
            <a:endParaRPr lang="en-IN" b="1" dirty="0"/>
          </a:p>
        </p:txBody>
      </p:sp>
      <p:pic>
        <p:nvPicPr>
          <p:cNvPr id="4" name="Picture 3">
            <a:extLst>
              <a:ext uri="{FF2B5EF4-FFF2-40B4-BE49-F238E27FC236}">
                <a16:creationId xmlns:a16="http://schemas.microsoft.com/office/drawing/2014/main" id="{14FE85F6-0D6C-7DE9-0868-06C2674A1492}"/>
              </a:ext>
            </a:extLst>
          </p:cNvPr>
          <p:cNvPicPr>
            <a:picLocks noChangeAspect="1"/>
          </p:cNvPicPr>
          <p:nvPr/>
        </p:nvPicPr>
        <p:blipFill>
          <a:blip r:embed="rId2"/>
          <a:stretch>
            <a:fillRect/>
          </a:stretch>
        </p:blipFill>
        <p:spPr>
          <a:xfrm>
            <a:off x="66907" y="230190"/>
            <a:ext cx="3761558" cy="566977"/>
          </a:xfrm>
          <a:prstGeom prst="rect">
            <a:avLst/>
          </a:prstGeom>
        </p:spPr>
      </p:pic>
    </p:spTree>
    <p:extLst>
      <p:ext uri="{BB962C8B-B14F-4D97-AF65-F5344CB8AC3E}">
        <p14:creationId xmlns:p14="http://schemas.microsoft.com/office/powerpoint/2010/main" val="1325847487"/>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06857-2265-F8A7-A19E-4A9631027AF7}"/>
              </a:ext>
            </a:extLst>
          </p:cNvPr>
          <p:cNvSpPr>
            <a:spLocks noGrp="1"/>
          </p:cNvSpPr>
          <p:nvPr>
            <p:ph type="title"/>
          </p:nvPr>
        </p:nvSpPr>
        <p:spPr>
          <a:xfrm>
            <a:off x="2758533" y="822326"/>
            <a:ext cx="3430394" cy="627333"/>
          </a:xfrm>
        </p:spPr>
        <p:txBody>
          <a:bodyPr>
            <a:normAutofit/>
          </a:bodyPr>
          <a:lstStyle/>
          <a:p>
            <a:r>
              <a:rPr lang="en-US" sz="2400" b="1" dirty="0">
                <a:latin typeface="Times New Roman" panose="02020603050405020304" pitchFamily="18" charset="0"/>
                <a:cs typeface="Times New Roman" panose="02020603050405020304" pitchFamily="18" charset="0"/>
              </a:rPr>
              <a:t>Hardware Specifications</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1196D01-168A-9CC8-EABE-AD55283FD927}"/>
              </a:ext>
            </a:extLst>
          </p:cNvPr>
          <p:cNvSpPr>
            <a:spLocks noGrp="1"/>
          </p:cNvSpPr>
          <p:nvPr>
            <p:ph idx="1"/>
          </p:nvPr>
        </p:nvSpPr>
        <p:spPr>
          <a:xfrm>
            <a:off x="628650" y="1449659"/>
            <a:ext cx="7886700" cy="4727304"/>
          </a:xfrm>
        </p:spPr>
        <p:txBody>
          <a:bodyPr>
            <a:normAutofit/>
          </a:bodyPr>
          <a:lstStyle/>
          <a:p>
            <a:pPr algn="just"/>
            <a:r>
              <a:rPr lang="en-IN" sz="2400" b="1" dirty="0">
                <a:latin typeface="Times New Roman" panose="02020603050405020304" pitchFamily="18" charset="0"/>
                <a:cs typeface="Times New Roman" panose="02020603050405020304" pitchFamily="18" charset="0"/>
              </a:rPr>
              <a:t>Processor:</a:t>
            </a:r>
            <a:r>
              <a:rPr lang="en-IN" sz="2400" dirty="0">
                <a:latin typeface="Times New Roman" panose="02020603050405020304" pitchFamily="18" charset="0"/>
                <a:cs typeface="Times New Roman" panose="02020603050405020304" pitchFamily="18" charset="0"/>
              </a:rPr>
              <a:t> Intel Core i5 / i7</a:t>
            </a:r>
          </a:p>
          <a:p>
            <a:pPr algn="just"/>
            <a:r>
              <a:rPr lang="en-US" sz="2400" b="1" dirty="0">
                <a:latin typeface="Times New Roman" panose="02020603050405020304" pitchFamily="18" charset="0"/>
                <a:cs typeface="Times New Roman" panose="02020603050405020304" pitchFamily="18" charset="0"/>
              </a:rPr>
              <a:t>RAM:</a:t>
            </a:r>
            <a:r>
              <a:rPr lang="en-US" sz="2400" dirty="0">
                <a:latin typeface="Times New Roman" panose="02020603050405020304" pitchFamily="18" charset="0"/>
                <a:cs typeface="Times New Roman" panose="02020603050405020304" pitchFamily="18" charset="0"/>
              </a:rPr>
              <a:t> Minimum 8 GB (Recommended 16 GB for smoother deep learning training)</a:t>
            </a:r>
          </a:p>
          <a:p>
            <a:pPr algn="just"/>
            <a:r>
              <a:rPr lang="en-US" sz="2400" b="1" dirty="0">
                <a:latin typeface="Times New Roman" panose="02020603050405020304" pitchFamily="18" charset="0"/>
                <a:cs typeface="Times New Roman" panose="02020603050405020304" pitchFamily="18" charset="0"/>
              </a:rPr>
              <a:t>Storage:</a:t>
            </a:r>
            <a:r>
              <a:rPr lang="en-US" sz="2400" dirty="0">
                <a:latin typeface="Times New Roman" panose="02020603050405020304" pitchFamily="18" charset="0"/>
                <a:cs typeface="Times New Roman" panose="02020603050405020304" pitchFamily="18" charset="0"/>
              </a:rPr>
              <a:t> 477 GB free disk space</a:t>
            </a:r>
          </a:p>
          <a:p>
            <a:pPr algn="just"/>
            <a:r>
              <a:rPr lang="en-US" sz="2400" b="1" dirty="0">
                <a:latin typeface="Times New Roman" panose="02020603050405020304" pitchFamily="18" charset="0"/>
                <a:cs typeface="Times New Roman" panose="02020603050405020304" pitchFamily="18" charset="0"/>
              </a:rPr>
              <a:t>GPU:</a:t>
            </a:r>
            <a:r>
              <a:rPr lang="en-US" sz="2400" dirty="0">
                <a:latin typeface="Times New Roman" panose="02020603050405020304" pitchFamily="18" charset="0"/>
                <a:cs typeface="Times New Roman" panose="02020603050405020304" pitchFamily="18" charset="0"/>
              </a:rPr>
              <a:t> Optional, but helpful for faster BiLSTM training</a:t>
            </a:r>
          </a:p>
          <a:p>
            <a:pPr algn="just"/>
            <a:r>
              <a:rPr lang="en-US" sz="2400" b="1" dirty="0">
                <a:latin typeface="Times New Roman" panose="02020603050405020304" pitchFamily="18" charset="0"/>
                <a:cs typeface="Times New Roman" panose="02020603050405020304" pitchFamily="18" charset="0"/>
              </a:rPr>
              <a:t>Operating System:</a:t>
            </a:r>
            <a:r>
              <a:rPr lang="en-US" sz="2400" dirty="0">
                <a:latin typeface="Times New Roman" panose="02020603050405020304" pitchFamily="18" charset="0"/>
                <a:cs typeface="Times New Roman" panose="02020603050405020304" pitchFamily="18" charset="0"/>
              </a:rPr>
              <a:t> Windows / Linux / macOS.</a:t>
            </a:r>
          </a:p>
          <a:p>
            <a:pPr marL="0" indent="0" algn="just">
              <a:buNone/>
            </a:pPr>
            <a:r>
              <a:rPr lang="en-US" sz="2400" b="1" dirty="0"/>
              <a:t>How the Project Was Implemented</a:t>
            </a:r>
          </a:p>
          <a:p>
            <a:pPr algn="just"/>
            <a:r>
              <a:rPr lang="en-US" sz="2400" dirty="0"/>
              <a:t>Loaded and explored the Cleveland Heart Disease dataset.</a:t>
            </a:r>
          </a:p>
          <a:p>
            <a:pPr algn="just"/>
            <a:r>
              <a:rPr lang="en-US" sz="2400" dirty="0"/>
              <a:t>Applied preprocessing: outlier removal, imputation, normalization, encoding, SMOTEENN</a:t>
            </a:r>
          </a:p>
          <a:p>
            <a:pPr algn="just"/>
            <a:r>
              <a:rPr lang="en-US" sz="2400" dirty="0"/>
              <a:t>Split data into 80% training and 20% testing</a:t>
            </a:r>
            <a:endParaRPr lang="en-US" sz="2400" b="1" dirty="0"/>
          </a:p>
          <a:p>
            <a:pPr marL="0" indent="0" algn="just">
              <a:buNone/>
            </a:pPr>
            <a:endParaRPr lang="en-IN" sz="2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2DA7FF3-AFBF-9D40-CDC0-C813DCAFD3B4}"/>
              </a:ext>
            </a:extLst>
          </p:cNvPr>
          <p:cNvPicPr>
            <a:picLocks noChangeAspect="1"/>
          </p:cNvPicPr>
          <p:nvPr/>
        </p:nvPicPr>
        <p:blipFill>
          <a:blip r:embed="rId2"/>
          <a:stretch>
            <a:fillRect/>
          </a:stretch>
        </p:blipFill>
        <p:spPr>
          <a:xfrm>
            <a:off x="193348" y="285527"/>
            <a:ext cx="3761558" cy="566977"/>
          </a:xfrm>
          <a:prstGeom prst="rect">
            <a:avLst/>
          </a:prstGeom>
        </p:spPr>
      </p:pic>
    </p:spTree>
    <p:extLst>
      <p:ext uri="{BB962C8B-B14F-4D97-AF65-F5344CB8AC3E}">
        <p14:creationId xmlns:p14="http://schemas.microsoft.com/office/powerpoint/2010/main" val="2236810254"/>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4ED5E-AED1-4638-F351-0018E7EB74A4}"/>
              </a:ext>
            </a:extLst>
          </p:cNvPr>
          <p:cNvSpPr>
            <a:spLocks noGrp="1"/>
          </p:cNvSpPr>
          <p:nvPr>
            <p:ph type="title"/>
          </p:nvPr>
        </p:nvSpPr>
        <p:spPr>
          <a:xfrm>
            <a:off x="1752832" y="1067654"/>
            <a:ext cx="5638335" cy="493518"/>
          </a:xfrm>
        </p:spPr>
        <p:txBody>
          <a:bodyPr>
            <a:normAutofit/>
          </a:bodyPr>
          <a:lstStyle/>
          <a:p>
            <a:r>
              <a:rPr lang="en-US" sz="2800" b="1" dirty="0">
                <a:latin typeface="Times New Roman" panose="02020603050405020304" pitchFamily="18" charset="0"/>
                <a:cs typeface="Times New Roman" panose="02020603050405020304" pitchFamily="18" charset="0"/>
              </a:rPr>
              <a:t>How the Project Was Implemented</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16CA734-F10E-3718-CA81-04B06F94A1FF}"/>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Loaded and explored the Cleveland Heart Disease dataset.</a:t>
            </a:r>
          </a:p>
          <a:p>
            <a:pPr algn="just"/>
            <a:r>
              <a:rPr lang="en-US" sz="2400" dirty="0">
                <a:latin typeface="Times New Roman" panose="02020603050405020304" pitchFamily="18" charset="0"/>
                <a:cs typeface="Times New Roman" panose="02020603050405020304" pitchFamily="18" charset="0"/>
              </a:rPr>
              <a:t>Applied preprocessing: outlier removal, imputation, normalization, encoding, SMOTEENN.</a:t>
            </a:r>
          </a:p>
          <a:p>
            <a:pPr algn="just"/>
            <a:r>
              <a:rPr lang="en-US" sz="2400" dirty="0">
                <a:latin typeface="Times New Roman" panose="02020603050405020304" pitchFamily="18" charset="0"/>
                <a:cs typeface="Times New Roman" panose="02020603050405020304" pitchFamily="18" charset="0"/>
              </a:rPr>
              <a:t>Split data into 80% training and 20% testing.</a:t>
            </a:r>
          </a:p>
          <a:p>
            <a:pPr algn="just"/>
            <a:r>
              <a:rPr lang="en-US" sz="2400" dirty="0">
                <a:latin typeface="Times New Roman" panose="02020603050405020304" pitchFamily="18" charset="0"/>
                <a:cs typeface="Times New Roman" panose="02020603050405020304" pitchFamily="18" charset="0"/>
              </a:rPr>
              <a:t>Developed </a:t>
            </a:r>
            <a:r>
              <a:rPr lang="en-US" sz="2400" b="1" dirty="0">
                <a:latin typeface="Times New Roman" panose="02020603050405020304" pitchFamily="18" charset="0"/>
                <a:cs typeface="Times New Roman" panose="02020603050405020304" pitchFamily="18" charset="0"/>
              </a:rPr>
              <a:t>BiLSTM model</a:t>
            </a:r>
            <a:r>
              <a:rPr lang="en-US" sz="2400" dirty="0">
                <a:latin typeface="Times New Roman" panose="02020603050405020304" pitchFamily="18" charset="0"/>
                <a:cs typeface="Times New Roman" panose="02020603050405020304" pitchFamily="18" charset="0"/>
              </a:rPr>
              <a:t> for deep feature learning.</a:t>
            </a:r>
          </a:p>
          <a:p>
            <a:pPr algn="just"/>
            <a:r>
              <a:rPr lang="en-US" sz="2400" dirty="0">
                <a:latin typeface="Times New Roman" panose="02020603050405020304" pitchFamily="18" charset="0"/>
                <a:cs typeface="Times New Roman" panose="02020603050405020304" pitchFamily="18" charset="0"/>
              </a:rPr>
              <a:t>Trained </a:t>
            </a:r>
            <a:r>
              <a:rPr lang="en-US" sz="2400" b="1" dirty="0">
                <a:latin typeface="Times New Roman" panose="02020603050405020304" pitchFamily="18" charset="0"/>
                <a:cs typeface="Times New Roman" panose="02020603050405020304" pitchFamily="18" charset="0"/>
              </a:rPr>
              <a:t>Random Forest, AdaBoost, and SVM</a:t>
            </a:r>
            <a:r>
              <a:rPr lang="en-US" sz="2400" dirty="0">
                <a:latin typeface="Times New Roman" panose="02020603050405020304" pitchFamily="18" charset="0"/>
                <a:cs typeface="Times New Roman" panose="02020603050405020304" pitchFamily="18" charset="0"/>
              </a:rPr>
              <a:t> separately.</a:t>
            </a:r>
          </a:p>
          <a:p>
            <a:pPr algn="just"/>
            <a:r>
              <a:rPr lang="en-US" sz="2400" dirty="0">
                <a:latin typeface="Times New Roman" panose="02020603050405020304" pitchFamily="18" charset="0"/>
                <a:cs typeface="Times New Roman" panose="02020603050405020304" pitchFamily="18" charset="0"/>
              </a:rPr>
              <a:t>Combined predictions using </a:t>
            </a:r>
            <a:r>
              <a:rPr lang="en-US" sz="2400" b="1" dirty="0">
                <a:latin typeface="Times New Roman" panose="02020603050405020304" pitchFamily="18" charset="0"/>
                <a:cs typeface="Times New Roman" panose="02020603050405020304" pitchFamily="18" charset="0"/>
              </a:rPr>
              <a:t>Hybrid Refined Ensemble Framework (HREF).</a:t>
            </a:r>
          </a:p>
          <a:p>
            <a:pPr algn="just"/>
            <a:r>
              <a:rPr lang="en-US" sz="2400" dirty="0">
                <a:latin typeface="Times New Roman" panose="02020603050405020304" pitchFamily="18" charset="0"/>
                <a:cs typeface="Times New Roman" panose="02020603050405020304" pitchFamily="18" charset="0"/>
              </a:rPr>
              <a:t>Evaluated model with accuracy, precision, recall, F1-score, and ROC-AUC.</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694EAA1-2C0C-8F9E-7406-7E1514844A61}"/>
              </a:ext>
            </a:extLst>
          </p:cNvPr>
          <p:cNvPicPr>
            <a:picLocks noChangeAspect="1"/>
          </p:cNvPicPr>
          <p:nvPr/>
        </p:nvPicPr>
        <p:blipFill>
          <a:blip r:embed="rId2"/>
          <a:stretch>
            <a:fillRect/>
          </a:stretch>
        </p:blipFill>
        <p:spPr>
          <a:xfrm>
            <a:off x="126441" y="236224"/>
            <a:ext cx="3761558" cy="566977"/>
          </a:xfrm>
          <a:prstGeom prst="rect">
            <a:avLst/>
          </a:prstGeom>
        </p:spPr>
      </p:pic>
    </p:spTree>
    <p:extLst>
      <p:ext uri="{BB962C8B-B14F-4D97-AF65-F5344CB8AC3E}">
        <p14:creationId xmlns:p14="http://schemas.microsoft.com/office/powerpoint/2010/main" val="309283936"/>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B53EF-9783-04DC-8894-66DCD77E70DE}"/>
              </a:ext>
            </a:extLst>
          </p:cNvPr>
          <p:cNvSpPr>
            <a:spLocks noGrp="1"/>
          </p:cNvSpPr>
          <p:nvPr>
            <p:ph type="title"/>
          </p:nvPr>
        </p:nvSpPr>
        <p:spPr>
          <a:xfrm>
            <a:off x="1293540" y="795414"/>
            <a:ext cx="7444833" cy="504669"/>
          </a:xfrm>
        </p:spPr>
        <p:txBody>
          <a:bodyPr>
            <a:normAutofit/>
          </a:bodyPr>
          <a:lstStyle/>
          <a:p>
            <a:r>
              <a:rPr lang="en-US" sz="2800" b="1" dirty="0">
                <a:latin typeface="Times New Roman" panose="02020603050405020304" pitchFamily="18" charset="0"/>
                <a:cs typeface="Times New Roman" panose="02020603050405020304" pitchFamily="18" charset="0"/>
              </a:rPr>
              <a:t>Challenges Faced &amp; How They Were Overcome</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B51A90E-9706-98AF-2D3C-66F6D6753B90}"/>
              </a:ext>
            </a:extLst>
          </p:cNvPr>
          <p:cNvSpPr>
            <a:spLocks noGrp="1"/>
          </p:cNvSpPr>
          <p:nvPr>
            <p:ph idx="1"/>
          </p:nvPr>
        </p:nvSpPr>
        <p:spPr>
          <a:xfrm>
            <a:off x="628650" y="1300083"/>
            <a:ext cx="7886700" cy="4960349"/>
          </a:xfrm>
        </p:spPr>
        <p:txBody>
          <a:bodyPr>
            <a:noAutofit/>
          </a:bodyPr>
          <a:lstStyle/>
          <a:p>
            <a:pPr algn="just"/>
            <a:r>
              <a:rPr lang="en-IN" sz="2200" b="1" dirty="0">
                <a:latin typeface="Times New Roman" panose="02020603050405020304" pitchFamily="18" charset="0"/>
                <a:cs typeface="Times New Roman" panose="02020603050405020304" pitchFamily="18" charset="0"/>
              </a:rPr>
              <a:t>Challenge 1</a:t>
            </a:r>
            <a:r>
              <a:rPr lang="en-IN" sz="2200" dirty="0">
                <a:latin typeface="Times New Roman" panose="02020603050405020304" pitchFamily="18" charset="0"/>
                <a:cs typeface="Times New Roman" panose="02020603050405020304" pitchFamily="18" charset="0"/>
              </a:rPr>
              <a:t>: Dataset Imbalance</a:t>
            </a:r>
          </a:p>
          <a:p>
            <a:pPr marL="0" indent="0" algn="just">
              <a:buNone/>
            </a:pPr>
            <a:r>
              <a:rPr lang="en-US" sz="2200" dirty="0">
                <a:latin typeface="Times New Roman" panose="02020603050405020304" pitchFamily="18" charset="0"/>
                <a:cs typeface="Times New Roman" panose="02020603050405020304" pitchFamily="18" charset="0"/>
              </a:rPr>
              <a:t>The dataset had more “No Disease” cases than “Disease” cases.</a:t>
            </a:r>
          </a:p>
          <a:p>
            <a:pPr marL="0" indent="0" algn="just">
              <a:buNone/>
            </a:pPr>
            <a:r>
              <a:rPr lang="en-US" sz="2200" b="1" dirty="0">
                <a:latin typeface="Times New Roman" panose="02020603050405020304" pitchFamily="18" charset="0"/>
                <a:cs typeface="Times New Roman" panose="02020603050405020304" pitchFamily="18" charset="0"/>
              </a:rPr>
              <a:t>Solution:</a:t>
            </a:r>
            <a:r>
              <a:rPr lang="en-US" sz="2200" dirty="0">
                <a:latin typeface="Times New Roman" panose="02020603050405020304" pitchFamily="18" charset="0"/>
                <a:cs typeface="Times New Roman" panose="02020603050405020304" pitchFamily="18" charset="0"/>
              </a:rPr>
              <a:t> Applied </a:t>
            </a:r>
            <a:r>
              <a:rPr lang="en-US" sz="2200" b="1" dirty="0">
                <a:latin typeface="Times New Roman" panose="02020603050405020304" pitchFamily="18" charset="0"/>
                <a:cs typeface="Times New Roman" panose="02020603050405020304" pitchFamily="18" charset="0"/>
              </a:rPr>
              <a:t>SMOTEENN</a:t>
            </a:r>
            <a:r>
              <a:rPr lang="en-US" sz="2200" dirty="0">
                <a:latin typeface="Times New Roman" panose="02020603050405020304" pitchFamily="18" charset="0"/>
                <a:cs typeface="Times New Roman" panose="02020603050405020304" pitchFamily="18" charset="0"/>
              </a:rPr>
              <a:t>, which both oversamples minority class and removes noisy data, producing a balanced dataset.</a:t>
            </a:r>
          </a:p>
          <a:p>
            <a:pPr algn="just"/>
            <a:r>
              <a:rPr lang="en-US" sz="2200" b="1" dirty="0">
                <a:latin typeface="Times New Roman" panose="02020603050405020304" pitchFamily="18" charset="0"/>
                <a:cs typeface="Times New Roman" panose="02020603050405020304" pitchFamily="18" charset="0"/>
              </a:rPr>
              <a:t>Challenge 2</a:t>
            </a:r>
            <a:r>
              <a:rPr lang="en-US" sz="2200" dirty="0">
                <a:latin typeface="Times New Roman" panose="02020603050405020304" pitchFamily="18" charset="0"/>
                <a:cs typeface="Times New Roman" panose="02020603050405020304" pitchFamily="18" charset="0"/>
              </a:rPr>
              <a:t>: Outliers &amp; Missing Values</a:t>
            </a:r>
          </a:p>
          <a:p>
            <a:pPr marL="0" indent="0" algn="just">
              <a:buNone/>
            </a:pPr>
            <a:r>
              <a:rPr lang="en-US" sz="2200" dirty="0">
                <a:latin typeface="Times New Roman" panose="02020603050405020304" pitchFamily="18" charset="0"/>
                <a:cs typeface="Times New Roman" panose="02020603050405020304" pitchFamily="18" charset="0"/>
              </a:rPr>
              <a:t>Cholesterol, blood pressure, and ST depression had outliers and some missing values.</a:t>
            </a:r>
          </a:p>
          <a:p>
            <a:pPr marL="0" indent="0" algn="just">
              <a:buNone/>
            </a:pPr>
            <a:r>
              <a:rPr lang="en-US" sz="2200" b="1" dirty="0">
                <a:latin typeface="Times New Roman" panose="02020603050405020304" pitchFamily="18" charset="0"/>
                <a:cs typeface="Times New Roman" panose="02020603050405020304" pitchFamily="18" charset="0"/>
              </a:rPr>
              <a:t>Solution:</a:t>
            </a:r>
            <a:r>
              <a:rPr lang="en-US" sz="2200" dirty="0">
                <a:latin typeface="Times New Roman" panose="02020603050405020304" pitchFamily="18" charset="0"/>
                <a:cs typeface="Times New Roman" panose="02020603050405020304" pitchFamily="18" charset="0"/>
              </a:rPr>
              <a:t> Outlier removal with Z-score ±3 and mean-value imputation for missing data.</a:t>
            </a:r>
          </a:p>
          <a:p>
            <a:pPr algn="just"/>
            <a:r>
              <a:rPr lang="en-IN" sz="2200" b="1" dirty="0">
                <a:latin typeface="Times New Roman" panose="02020603050405020304" pitchFamily="18" charset="0"/>
                <a:cs typeface="Times New Roman" panose="02020603050405020304" pitchFamily="18" charset="0"/>
              </a:rPr>
              <a:t>Challenge 3</a:t>
            </a:r>
            <a:r>
              <a:rPr lang="en-IN" sz="2200" dirty="0">
                <a:latin typeface="Times New Roman" panose="02020603050405020304" pitchFamily="18" charset="0"/>
                <a:cs typeface="Times New Roman" panose="02020603050405020304" pitchFamily="18" charset="0"/>
              </a:rPr>
              <a:t>: Small Dataset Size (303 samples)</a:t>
            </a:r>
          </a:p>
          <a:p>
            <a:pPr marL="0" indent="0" algn="just">
              <a:buNone/>
            </a:pPr>
            <a:r>
              <a:rPr lang="en-US" sz="2200" dirty="0">
                <a:latin typeface="Times New Roman" panose="02020603050405020304" pitchFamily="18" charset="0"/>
                <a:cs typeface="Times New Roman" panose="02020603050405020304" pitchFamily="18" charset="0"/>
              </a:rPr>
              <a:t>Hard for deep learning to generalize.</a:t>
            </a:r>
          </a:p>
          <a:p>
            <a:pPr marL="0" indent="0" algn="just">
              <a:buNone/>
            </a:pPr>
            <a:r>
              <a:rPr lang="en-US" sz="2200" b="1" dirty="0">
                <a:latin typeface="Times New Roman" panose="02020603050405020304" pitchFamily="18" charset="0"/>
                <a:cs typeface="Times New Roman" panose="02020603050405020304" pitchFamily="18" charset="0"/>
              </a:rPr>
              <a:t>Solution:</a:t>
            </a:r>
            <a:r>
              <a:rPr lang="en-US" sz="2200" dirty="0">
                <a:latin typeface="Times New Roman" panose="02020603050405020304" pitchFamily="18" charset="0"/>
                <a:cs typeface="Times New Roman" panose="02020603050405020304" pitchFamily="18" charset="0"/>
              </a:rPr>
              <a:t> Used hybrid approach → BiLSTM for feature learning + ML ensembles for stability.</a:t>
            </a:r>
            <a:endParaRPr lang="en-IN" sz="2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93991D6-9AFE-99E2-1983-9ECBCE45F4CB}"/>
              </a:ext>
            </a:extLst>
          </p:cNvPr>
          <p:cNvPicPr>
            <a:picLocks noChangeAspect="1"/>
          </p:cNvPicPr>
          <p:nvPr/>
        </p:nvPicPr>
        <p:blipFill>
          <a:blip r:embed="rId2"/>
          <a:stretch>
            <a:fillRect/>
          </a:stretch>
        </p:blipFill>
        <p:spPr>
          <a:xfrm>
            <a:off x="159894" y="328892"/>
            <a:ext cx="3761558" cy="566977"/>
          </a:xfrm>
          <a:prstGeom prst="rect">
            <a:avLst/>
          </a:prstGeom>
        </p:spPr>
      </p:pic>
    </p:spTree>
    <p:extLst>
      <p:ext uri="{BB962C8B-B14F-4D97-AF65-F5344CB8AC3E}">
        <p14:creationId xmlns:p14="http://schemas.microsoft.com/office/powerpoint/2010/main" val="3132420980"/>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2696" y="717754"/>
            <a:ext cx="4050891" cy="648930"/>
          </a:xfrm>
        </p:spPr>
        <p:txBody>
          <a:bodyPr>
            <a:normAutofit/>
          </a:bodyPr>
          <a:lstStyle/>
          <a:p>
            <a:pPr>
              <a:defRPr sz="3600" b="1">
                <a:solidFill>
                  <a:srgbClr val="19377D"/>
                </a:solidFill>
              </a:defRPr>
            </a:pPr>
            <a:r>
              <a:rPr lang="en-IN" sz="2800" b="1" dirty="0">
                <a:solidFill>
                  <a:schemeClr val="tx1">
                    <a:lumMod val="95000"/>
                    <a:lumOff val="5000"/>
                  </a:schemeClr>
                </a:solidFill>
                <a:latin typeface="Times New Roman" panose="02020603050405020304" pitchFamily="18" charset="0"/>
                <a:cs typeface="Times New Roman" panose="02020603050405020304" pitchFamily="18" charset="0"/>
              </a:rPr>
              <a:t>RESULTS &amp; ANALYSIS</a:t>
            </a:r>
            <a:endParaRPr sz="2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569FCE01-CC9D-D9E7-9BF9-C85A54E42B1A}"/>
              </a:ext>
            </a:extLst>
          </p:cNvPr>
          <p:cNvSpPr>
            <a:spLocks noGrp="1"/>
          </p:cNvSpPr>
          <p:nvPr>
            <p:ph idx="1"/>
          </p:nvPr>
        </p:nvSpPr>
        <p:spPr>
          <a:xfrm>
            <a:off x="628650" y="1366683"/>
            <a:ext cx="7886700" cy="4984955"/>
          </a:xfrm>
        </p:spPr>
        <p:txBody>
          <a:bodyPr>
            <a:normAutofit/>
          </a:bodyPr>
          <a:lstStyle/>
          <a:p>
            <a:pPr algn="just"/>
            <a:r>
              <a:rPr lang="en-US" sz="2400" dirty="0">
                <a:latin typeface="Times New Roman" panose="02020603050405020304" pitchFamily="18" charset="0"/>
                <a:cs typeface="Times New Roman" panose="02020603050405020304" pitchFamily="18" charset="0"/>
              </a:rPr>
              <a:t>The Hybrid BiLSTM + HREF model achieved 94.7% accuracy and 0.9474 ROC-AUC, showing strong classification Performance.</a:t>
            </a:r>
          </a:p>
          <a:p>
            <a:pPr algn="just"/>
            <a:r>
              <a:rPr lang="en-US" sz="2400" dirty="0">
                <a:latin typeface="Times New Roman" panose="02020603050405020304" pitchFamily="18" charset="0"/>
                <a:cs typeface="Times New Roman" panose="02020603050405020304" pitchFamily="18" charset="0"/>
              </a:rPr>
              <a:t>Precision, Recall, and F1-Score are all around 0.95, indicating balanced and reliable predictions.</a:t>
            </a:r>
          </a:p>
          <a:p>
            <a:pPr lvl="0" algn="just" fontAlgn="base"/>
            <a:r>
              <a:rPr lang="en-IN" sz="2400" dirty="0">
                <a:latin typeface="Times New Roman" panose="02020603050405020304" pitchFamily="18" charset="0"/>
                <a:cs typeface="Times New Roman" panose="02020603050405020304" pitchFamily="18" charset="0"/>
              </a:rPr>
              <a:t>The model showed highest accuracy for men and </a:t>
            </a:r>
            <a:r>
              <a:rPr lang="en-IN" sz="2400" dirty="0" err="1">
                <a:latin typeface="Times New Roman" panose="02020603050405020304" pitchFamily="18" charset="0"/>
                <a:cs typeface="Times New Roman" panose="02020603050405020304" pitchFamily="18" charset="0"/>
              </a:rPr>
              <a:t>middleaged</a:t>
            </a:r>
            <a:r>
              <a:rPr lang="en-IN" sz="2400" dirty="0">
                <a:latin typeface="Times New Roman" panose="02020603050405020304" pitchFamily="18" charset="0"/>
                <a:cs typeface="Times New Roman" panose="02020603050405020304" pitchFamily="18" charset="0"/>
              </a:rPr>
              <a:t> adults, due to better representation in the dataset.</a:t>
            </a:r>
          </a:p>
          <a:p>
            <a:pPr lvl="0" algn="just" fontAlgn="base"/>
            <a:r>
              <a:rPr lang="en-IN" sz="2400" dirty="0">
                <a:latin typeface="Times New Roman" panose="02020603050405020304" pitchFamily="18" charset="0"/>
                <a:cs typeface="Times New Roman" panose="02020603050405020304" pitchFamily="18" charset="0"/>
              </a:rPr>
              <a:t>Women and younger adults had slightly lower accuracy, but SMOTE-ENN improved balance and reduced bias.</a:t>
            </a:r>
          </a:p>
          <a:p>
            <a:pPr algn="just" fontAlgn="base"/>
            <a:r>
              <a:rPr lang="en-IN" sz="2400" dirty="0">
                <a:latin typeface="Times New Roman" panose="02020603050405020304" pitchFamily="18" charset="0"/>
                <a:cs typeface="Times New Roman" panose="02020603050405020304" pitchFamily="18" charset="0"/>
              </a:rPr>
              <a:t>The model reliably identified high-risk cases in older </a:t>
            </a:r>
            <a:r>
              <a:rPr lang="en-IN" sz="2400" dirty="0" err="1">
                <a:latin typeface="Times New Roman" panose="02020603050405020304" pitchFamily="18" charset="0"/>
                <a:cs typeface="Times New Roman" panose="02020603050405020304" pitchFamily="18" charset="0"/>
              </a:rPr>
              <a:t>adults,which</a:t>
            </a:r>
            <a:r>
              <a:rPr lang="en-IN" sz="2400" dirty="0">
                <a:latin typeface="Times New Roman" panose="02020603050405020304" pitchFamily="18" charset="0"/>
                <a:cs typeface="Times New Roman" panose="02020603050405020304" pitchFamily="18" charset="0"/>
              </a:rPr>
              <a:t> is crucial for clinical use.</a:t>
            </a:r>
          </a:p>
          <a:p>
            <a:pPr lvl="0" algn="just" fontAlgn="base"/>
            <a:endParaRPr lang="en-IN"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id="{5D00F3BC-3AD6-2F66-745E-A2CF99092CA7}"/>
              </a:ext>
            </a:extLst>
          </p:cNvPr>
          <p:cNvPicPr>
            <a:picLocks noChangeAspect="1"/>
          </p:cNvPicPr>
          <p:nvPr/>
        </p:nvPicPr>
        <p:blipFill>
          <a:blip r:embed="rId2"/>
          <a:stretch>
            <a:fillRect/>
          </a:stretch>
        </p:blipFill>
        <p:spPr>
          <a:xfrm>
            <a:off x="46344" y="257309"/>
            <a:ext cx="3761558" cy="56697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96593-CABD-9EBE-CE6A-FAE43D75DBAE}"/>
              </a:ext>
            </a:extLst>
          </p:cNvPr>
          <p:cNvSpPr>
            <a:spLocks noGrp="1"/>
          </p:cNvSpPr>
          <p:nvPr>
            <p:ph type="title"/>
          </p:nvPr>
        </p:nvSpPr>
        <p:spPr>
          <a:xfrm>
            <a:off x="2555720" y="795087"/>
            <a:ext cx="4032560" cy="415459"/>
          </a:xfrm>
        </p:spPr>
        <p:txBody>
          <a:bodyPr>
            <a:normAutofit fontScale="90000"/>
          </a:bodyPr>
          <a:lstStyle/>
          <a:p>
            <a:pPr algn="just"/>
            <a:r>
              <a:rPr lang="en-US" sz="2800" b="1" dirty="0">
                <a:latin typeface="Times New Roman" panose="02020603050405020304" pitchFamily="18" charset="0"/>
                <a:cs typeface="Times New Roman" panose="02020603050405020304" pitchFamily="18" charset="0"/>
              </a:rPr>
              <a:t>CONFUSION MATRIX</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8097480-C329-FB9A-93E6-4B8748256DC7}"/>
              </a:ext>
            </a:extLst>
          </p:cNvPr>
          <p:cNvSpPr>
            <a:spLocks noGrp="1"/>
          </p:cNvSpPr>
          <p:nvPr>
            <p:ph idx="1"/>
          </p:nvPr>
        </p:nvSpPr>
        <p:spPr>
          <a:xfrm>
            <a:off x="628650" y="1271240"/>
            <a:ext cx="7886700" cy="4816047"/>
          </a:xfrm>
        </p:spPr>
        <p:txBody>
          <a:bodyPr>
            <a:noAutofit/>
          </a:bodyPr>
          <a:lstStyle/>
          <a:p>
            <a:pPr algn="just"/>
            <a:r>
              <a:rPr lang="en-US" sz="2200" dirty="0">
                <a:latin typeface="Times New Roman" panose="02020603050405020304" pitchFamily="18" charset="0"/>
                <a:cs typeface="Times New Roman" panose="02020603050405020304" pitchFamily="18" charset="0"/>
              </a:rPr>
              <a:t>It compares </a:t>
            </a:r>
            <a:r>
              <a:rPr lang="en-US" sz="2200" b="1" dirty="0">
                <a:latin typeface="Times New Roman" panose="02020603050405020304" pitchFamily="18" charset="0"/>
                <a:cs typeface="Times New Roman" panose="02020603050405020304" pitchFamily="18" charset="0"/>
              </a:rPr>
              <a:t>actual values</a:t>
            </a:r>
            <a:r>
              <a:rPr lang="en-US" sz="2200" dirty="0">
                <a:latin typeface="Times New Roman" panose="02020603050405020304" pitchFamily="18" charset="0"/>
                <a:cs typeface="Times New Roman" panose="02020603050405020304" pitchFamily="18" charset="0"/>
              </a:rPr>
              <a:t> with </a:t>
            </a:r>
            <a:r>
              <a:rPr lang="en-US" sz="2200" b="1" dirty="0">
                <a:latin typeface="Times New Roman" panose="02020603050405020304" pitchFamily="18" charset="0"/>
                <a:cs typeface="Times New Roman" panose="02020603050405020304" pitchFamily="18" charset="0"/>
              </a:rPr>
              <a:t>predicted values</a:t>
            </a:r>
            <a:r>
              <a:rPr lang="en-US" sz="2200" dirty="0">
                <a:latin typeface="Times New Roman" panose="02020603050405020304" pitchFamily="18" charset="0"/>
                <a:cs typeface="Times New Roman" panose="02020603050405020304" pitchFamily="18" charset="0"/>
              </a:rPr>
              <a:t> to show how many predictions were correct or incorrect.</a:t>
            </a:r>
          </a:p>
          <a:p>
            <a:pPr algn="just"/>
            <a:r>
              <a:rPr lang="en-IN" sz="2200" dirty="0">
                <a:latin typeface="Times New Roman" panose="02020603050405020304" pitchFamily="18" charset="0"/>
                <a:cs typeface="Times New Roman" panose="02020603050405020304" pitchFamily="18" charset="0"/>
              </a:rPr>
              <a:t>True Positive (TP= 20)</a:t>
            </a:r>
          </a:p>
          <a:p>
            <a:pPr marL="0" indent="0" algn="just">
              <a:buNone/>
            </a:pPr>
            <a:r>
              <a:rPr lang="en-IN" sz="2200" dirty="0">
                <a:latin typeface="Times New Roman" panose="02020603050405020304" pitchFamily="18" charset="0"/>
                <a:cs typeface="Times New Roman" panose="02020603050405020304" pitchFamily="18" charset="0"/>
              </a:rPr>
              <a:t>Model correctly predicted Disease</a:t>
            </a:r>
          </a:p>
          <a:p>
            <a:pPr marL="0" indent="0" algn="just">
              <a:buNone/>
            </a:pPr>
            <a:r>
              <a:rPr lang="en-IN" sz="2200" dirty="0">
                <a:latin typeface="Times New Roman" panose="02020603050405020304" pitchFamily="18" charset="0"/>
                <a:cs typeface="Times New Roman" panose="02020603050405020304" pitchFamily="18" charset="0"/>
              </a:rPr>
              <a:t> when the patient actually had disease.</a:t>
            </a:r>
          </a:p>
          <a:p>
            <a:pPr algn="just"/>
            <a:r>
              <a:rPr lang="en-IN" sz="2200" dirty="0">
                <a:latin typeface="Times New Roman" panose="02020603050405020304" pitchFamily="18" charset="0"/>
                <a:cs typeface="Times New Roman" panose="02020603050405020304" pitchFamily="18" charset="0"/>
              </a:rPr>
              <a:t>True Negative (TN = 17)</a:t>
            </a:r>
          </a:p>
          <a:p>
            <a:pPr marL="0" indent="0" algn="just">
              <a:buNone/>
            </a:pPr>
            <a:r>
              <a:rPr lang="en-IN" sz="2200" dirty="0">
                <a:latin typeface="Times New Roman" panose="02020603050405020304" pitchFamily="18" charset="0"/>
                <a:cs typeface="Times New Roman" panose="02020603050405020304" pitchFamily="18" charset="0"/>
              </a:rPr>
              <a:t>Model correctly predicted No Disease.</a:t>
            </a:r>
          </a:p>
          <a:p>
            <a:pPr algn="just"/>
            <a:r>
              <a:rPr lang="en-IN" sz="2200" dirty="0">
                <a:latin typeface="Times New Roman" panose="02020603050405020304" pitchFamily="18" charset="0"/>
                <a:cs typeface="Times New Roman" panose="02020603050405020304" pitchFamily="18" charset="0"/>
              </a:rPr>
              <a:t>False Positive (FP = 1) </a:t>
            </a:r>
          </a:p>
          <a:p>
            <a:pPr algn="just"/>
            <a:r>
              <a:rPr lang="en-IN" sz="2200" dirty="0">
                <a:latin typeface="Times New Roman" panose="02020603050405020304" pitchFamily="18" charset="0"/>
                <a:cs typeface="Times New Roman" panose="02020603050405020304" pitchFamily="18" charset="0"/>
              </a:rPr>
              <a:t>Model predicted Disease, but the </a:t>
            </a:r>
          </a:p>
          <a:p>
            <a:pPr marL="0" indent="0" algn="just">
              <a:buNone/>
            </a:pPr>
            <a:r>
              <a:rPr lang="en-IN" sz="2200" dirty="0">
                <a:latin typeface="Times New Roman" panose="02020603050405020304" pitchFamily="18" charset="0"/>
                <a:cs typeface="Times New Roman" panose="02020603050405020304" pitchFamily="18" charset="0"/>
              </a:rPr>
              <a:t>patient was actually healthy.</a:t>
            </a:r>
          </a:p>
          <a:p>
            <a:pPr algn="just"/>
            <a:r>
              <a:rPr lang="en-IN" sz="2200" dirty="0">
                <a:latin typeface="Times New Roman" panose="02020603050405020304" pitchFamily="18" charset="0"/>
                <a:cs typeface="Times New Roman" panose="02020603050405020304" pitchFamily="18" charset="0"/>
              </a:rPr>
              <a:t>False Negative (FN = 1)</a:t>
            </a:r>
          </a:p>
          <a:p>
            <a:pPr marL="0" indent="0" algn="just">
              <a:buNone/>
            </a:pPr>
            <a:r>
              <a:rPr lang="en-IN" sz="2200" dirty="0">
                <a:latin typeface="Times New Roman" panose="02020603050405020304" pitchFamily="18" charset="0"/>
                <a:cs typeface="Times New Roman" panose="02020603050405020304" pitchFamily="18" charset="0"/>
              </a:rPr>
              <a:t>Model predicted No Disease, but patient actually had disease</a:t>
            </a:r>
          </a:p>
        </p:txBody>
      </p:sp>
      <p:pic>
        <p:nvPicPr>
          <p:cNvPr id="5" name="Picture 4">
            <a:extLst>
              <a:ext uri="{FF2B5EF4-FFF2-40B4-BE49-F238E27FC236}">
                <a16:creationId xmlns:a16="http://schemas.microsoft.com/office/drawing/2014/main" id="{372178C0-ADA9-5EBD-8424-CA81D8F1D0E0}"/>
              </a:ext>
            </a:extLst>
          </p:cNvPr>
          <p:cNvPicPr>
            <a:picLocks noChangeAspect="1"/>
          </p:cNvPicPr>
          <p:nvPr/>
        </p:nvPicPr>
        <p:blipFill>
          <a:blip r:embed="rId2"/>
          <a:stretch>
            <a:fillRect/>
          </a:stretch>
        </p:blipFill>
        <p:spPr>
          <a:xfrm>
            <a:off x="5270345" y="2046852"/>
            <a:ext cx="3245005" cy="3015800"/>
          </a:xfrm>
          <a:prstGeom prst="rect">
            <a:avLst/>
          </a:prstGeom>
        </p:spPr>
      </p:pic>
      <p:pic>
        <p:nvPicPr>
          <p:cNvPr id="6" name="Picture 5">
            <a:extLst>
              <a:ext uri="{FF2B5EF4-FFF2-40B4-BE49-F238E27FC236}">
                <a16:creationId xmlns:a16="http://schemas.microsoft.com/office/drawing/2014/main" id="{5CBABC8C-3ADD-BEFD-DA04-56E61DAE3D70}"/>
              </a:ext>
            </a:extLst>
          </p:cNvPr>
          <p:cNvPicPr>
            <a:picLocks noChangeAspect="1"/>
          </p:cNvPicPr>
          <p:nvPr/>
        </p:nvPicPr>
        <p:blipFill>
          <a:blip r:embed="rId3"/>
          <a:stretch>
            <a:fillRect/>
          </a:stretch>
        </p:blipFill>
        <p:spPr>
          <a:xfrm>
            <a:off x="137592" y="203736"/>
            <a:ext cx="3761558" cy="566977"/>
          </a:xfrm>
          <a:prstGeom prst="rect">
            <a:avLst/>
          </a:prstGeom>
        </p:spPr>
      </p:pic>
    </p:spTree>
    <p:extLst>
      <p:ext uri="{BB962C8B-B14F-4D97-AF65-F5344CB8AC3E}">
        <p14:creationId xmlns:p14="http://schemas.microsoft.com/office/powerpoint/2010/main" val="2490520302"/>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EBAE4D0-67AD-D4A6-74D4-4BC5C42F6008}"/>
              </a:ext>
            </a:extLst>
          </p:cNvPr>
          <p:cNvSpPr>
            <a:spLocks noGrp="1"/>
          </p:cNvSpPr>
          <p:nvPr>
            <p:ph idx="1"/>
          </p:nvPr>
        </p:nvSpPr>
        <p:spPr>
          <a:xfrm>
            <a:off x="628650" y="1415845"/>
            <a:ext cx="7886700" cy="4761118"/>
          </a:xfrm>
        </p:spPr>
        <p:txBody>
          <a:bodyPr/>
          <a:lstStyle/>
          <a:p>
            <a:pPr algn="just"/>
            <a:r>
              <a:rPr lang="en-US" sz="2400" dirty="0">
                <a:latin typeface="Times New Roman" panose="02020603050405020304" pitchFamily="18" charset="0"/>
                <a:cs typeface="Times New Roman" panose="02020603050405020304" pitchFamily="18" charset="0"/>
              </a:rPr>
              <a:t>The model achieved a ROC-AUC score of 0.9474, indicating excellent class separation.</a:t>
            </a:r>
          </a:p>
          <a:p>
            <a:pPr algn="just"/>
            <a:r>
              <a:rPr lang="en-US" sz="2400" dirty="0">
                <a:latin typeface="Times New Roman" panose="02020603050405020304" pitchFamily="18" charset="0"/>
                <a:cs typeface="Times New Roman" panose="02020603050405020304" pitchFamily="18" charset="0"/>
              </a:rPr>
              <a:t>ROC curve is close to the top-left </a:t>
            </a:r>
          </a:p>
          <a:p>
            <a:pPr marL="0" indent="0" algn="just">
              <a:buNone/>
            </a:pPr>
            <a:r>
              <a:rPr lang="en-US" sz="2400" dirty="0">
                <a:latin typeface="Times New Roman" panose="02020603050405020304" pitchFamily="18" charset="0"/>
                <a:cs typeface="Times New Roman" panose="02020603050405020304" pitchFamily="18" charset="0"/>
              </a:rPr>
              <a:t>corner, showing strong sensitivity and</a:t>
            </a:r>
          </a:p>
          <a:p>
            <a:pPr marL="0" indent="0" algn="just">
              <a:buNone/>
            </a:pPr>
            <a:r>
              <a:rPr lang="en-US" sz="2400" dirty="0">
                <a:latin typeface="Times New Roman" panose="02020603050405020304" pitchFamily="18" charset="0"/>
                <a:cs typeface="Times New Roman" panose="02020603050405020304" pitchFamily="18" charset="0"/>
              </a:rPr>
              <a:t>Specificity.</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High AUC means the model reliably </a:t>
            </a:r>
          </a:p>
          <a:p>
            <a:pPr marL="0" indent="0" algn="just">
              <a:buNone/>
            </a:pPr>
            <a:r>
              <a:rPr lang="en-US" sz="2400" dirty="0">
                <a:latin typeface="Times New Roman" panose="02020603050405020304" pitchFamily="18" charset="0"/>
                <a:cs typeface="Times New Roman" panose="02020603050405020304" pitchFamily="18" charset="0"/>
              </a:rPr>
              <a:t>distinguishes between disease and no</a:t>
            </a:r>
          </a:p>
          <a:p>
            <a:pPr marL="0" indent="0" algn="just">
              <a:buNone/>
            </a:pPr>
            <a:r>
              <a:rPr lang="en-US" sz="2400" dirty="0">
                <a:latin typeface="Times New Roman" panose="02020603050405020304" pitchFamily="18" charset="0"/>
                <a:cs typeface="Times New Roman" panose="02020603050405020304" pitchFamily="18" charset="0"/>
              </a:rPr>
              <a:t>disease cases.</a:t>
            </a:r>
          </a:p>
          <a:p>
            <a:pPr algn="just"/>
            <a:r>
              <a:rPr lang="en-US" sz="2400" dirty="0">
                <a:latin typeface="Times New Roman" panose="02020603050405020304" pitchFamily="18" charset="0"/>
                <a:cs typeface="Times New Roman" panose="02020603050405020304" pitchFamily="18" charset="0"/>
              </a:rPr>
              <a:t>Demonstrates strong overall </a:t>
            </a:r>
          </a:p>
          <a:p>
            <a:pPr marL="0" indent="0" algn="just">
              <a:buNone/>
            </a:pPr>
            <a:r>
              <a:rPr lang="en-US" sz="2400" dirty="0">
                <a:latin typeface="Times New Roman" panose="02020603050405020304" pitchFamily="18" charset="0"/>
                <a:cs typeface="Times New Roman" panose="02020603050405020304" pitchFamily="18" charset="0"/>
              </a:rPr>
              <a:t>performance across different </a:t>
            </a:r>
          </a:p>
          <a:p>
            <a:pPr marL="0" indent="0" algn="just">
              <a:buNone/>
            </a:pPr>
            <a:r>
              <a:rPr lang="en-US" sz="2400" dirty="0">
                <a:latin typeface="Times New Roman" panose="02020603050405020304" pitchFamily="18" charset="0"/>
                <a:cs typeface="Times New Roman" panose="02020603050405020304" pitchFamily="18" charset="0"/>
              </a:rPr>
              <a:t>classification thresholds</a:t>
            </a:r>
          </a:p>
          <a:p>
            <a:pPr marL="0" indent="0">
              <a:buNone/>
            </a:pPr>
            <a:endParaRPr lang="en-US" dirty="0"/>
          </a:p>
        </p:txBody>
      </p:sp>
      <p:sp>
        <p:nvSpPr>
          <p:cNvPr id="7" name="Title 6">
            <a:extLst>
              <a:ext uri="{FF2B5EF4-FFF2-40B4-BE49-F238E27FC236}">
                <a16:creationId xmlns:a16="http://schemas.microsoft.com/office/drawing/2014/main" id="{C98AB269-9731-9763-0F3D-DC0C75051449}"/>
              </a:ext>
            </a:extLst>
          </p:cNvPr>
          <p:cNvSpPr>
            <a:spLocks noGrp="1"/>
          </p:cNvSpPr>
          <p:nvPr>
            <p:ph type="title"/>
          </p:nvPr>
        </p:nvSpPr>
        <p:spPr>
          <a:xfrm>
            <a:off x="2821858" y="681037"/>
            <a:ext cx="2123768" cy="734808"/>
          </a:xfrm>
        </p:spPr>
        <p:txBody>
          <a:bodyPr>
            <a:normAutofit/>
          </a:bodyPr>
          <a:lstStyle/>
          <a:p>
            <a:r>
              <a:rPr lang="en-US" sz="2800" b="1" dirty="0">
                <a:latin typeface="Times New Roman" panose="02020603050405020304" pitchFamily="18" charset="0"/>
                <a:cs typeface="Times New Roman" panose="02020603050405020304" pitchFamily="18" charset="0"/>
              </a:rPr>
              <a:t>ROC-AUC</a:t>
            </a:r>
            <a:endParaRPr lang="en-IN" sz="28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668E1939-1BFD-07BB-758A-40BE4DF299B3}"/>
              </a:ext>
            </a:extLst>
          </p:cNvPr>
          <p:cNvPicPr>
            <a:picLocks noChangeAspect="1"/>
          </p:cNvPicPr>
          <p:nvPr/>
        </p:nvPicPr>
        <p:blipFill>
          <a:blip r:embed="rId2"/>
          <a:stretch>
            <a:fillRect/>
          </a:stretch>
        </p:blipFill>
        <p:spPr>
          <a:xfrm>
            <a:off x="5417575" y="1779639"/>
            <a:ext cx="3578941" cy="3443804"/>
          </a:xfrm>
          <a:prstGeom prst="rect">
            <a:avLst/>
          </a:prstGeom>
        </p:spPr>
      </p:pic>
      <p:pic>
        <p:nvPicPr>
          <p:cNvPr id="12" name="Picture 11">
            <a:extLst>
              <a:ext uri="{FF2B5EF4-FFF2-40B4-BE49-F238E27FC236}">
                <a16:creationId xmlns:a16="http://schemas.microsoft.com/office/drawing/2014/main" id="{89278FA0-4ED6-4B42-DF98-FBAC7919BC17}"/>
              </a:ext>
            </a:extLst>
          </p:cNvPr>
          <p:cNvPicPr>
            <a:picLocks noChangeAspect="1"/>
          </p:cNvPicPr>
          <p:nvPr/>
        </p:nvPicPr>
        <p:blipFill>
          <a:blip r:embed="rId3"/>
          <a:stretch>
            <a:fillRect/>
          </a:stretch>
        </p:blipFill>
        <p:spPr>
          <a:xfrm>
            <a:off x="272485" y="254827"/>
            <a:ext cx="3761558" cy="56697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6F130-B900-9B44-8F45-958D405C0ADC}"/>
              </a:ext>
            </a:extLst>
          </p:cNvPr>
          <p:cNvSpPr>
            <a:spLocks noGrp="1"/>
          </p:cNvSpPr>
          <p:nvPr>
            <p:ph type="title"/>
          </p:nvPr>
        </p:nvSpPr>
        <p:spPr>
          <a:xfrm>
            <a:off x="2825441" y="776962"/>
            <a:ext cx="3943350" cy="566977"/>
          </a:xfrm>
        </p:spPr>
        <p:txBody>
          <a:bodyPr>
            <a:normAutofit/>
          </a:bodyPr>
          <a:lstStyle/>
          <a:p>
            <a:r>
              <a:rPr lang="en-US" sz="2800" b="1" dirty="0">
                <a:latin typeface="Times New Roman" panose="02020603050405020304" pitchFamily="18" charset="0"/>
                <a:cs typeface="Times New Roman" panose="02020603050405020304" pitchFamily="18" charset="0"/>
              </a:rPr>
              <a:t>EVALUTION MATRIX</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6C5F49F-2DB4-B74D-26D4-82C4B6E59382}"/>
              </a:ext>
            </a:extLst>
          </p:cNvPr>
          <p:cNvSpPr>
            <a:spLocks noGrp="1"/>
          </p:cNvSpPr>
          <p:nvPr>
            <p:ph idx="1"/>
          </p:nvPr>
        </p:nvSpPr>
        <p:spPr>
          <a:xfrm>
            <a:off x="628650" y="1260088"/>
            <a:ext cx="7886700" cy="4916875"/>
          </a:xfrm>
        </p:spPr>
        <p:txBody>
          <a:bodyPr>
            <a:noAutofit/>
          </a:bodyPr>
          <a:lstStyle/>
          <a:p>
            <a:pPr marL="457200" indent="-457200" algn="just">
              <a:buFont typeface="+mj-lt"/>
              <a:buAutoNum type="arabicPeriod"/>
            </a:pPr>
            <a:r>
              <a:rPr lang="en-US" sz="2200" b="1" dirty="0">
                <a:latin typeface="Times New Roman" panose="02020603050405020304" pitchFamily="18" charset="0"/>
                <a:cs typeface="Times New Roman" panose="02020603050405020304" pitchFamily="18" charset="0"/>
              </a:rPr>
              <a:t>Accuracy</a:t>
            </a:r>
          </a:p>
          <a:p>
            <a:pPr algn="just"/>
            <a:r>
              <a:rPr lang="en-US" sz="2200" dirty="0">
                <a:latin typeface="Times New Roman" panose="02020603050405020304" pitchFamily="18" charset="0"/>
                <a:cs typeface="Times New Roman" panose="02020603050405020304" pitchFamily="18" charset="0"/>
              </a:rPr>
              <a:t>Measures how many predictions the model got correct.</a:t>
            </a:r>
          </a:p>
          <a:p>
            <a:pPr algn="just"/>
            <a:r>
              <a:rPr lang="en-US" sz="2200" dirty="0">
                <a:latin typeface="Times New Roman" panose="02020603050405020304" pitchFamily="18" charset="0"/>
                <a:cs typeface="Times New Roman" panose="02020603050405020304" pitchFamily="18" charset="0"/>
              </a:rPr>
              <a:t>Shows </a:t>
            </a:r>
            <a:r>
              <a:rPr lang="en-US" sz="2200" b="1" dirty="0">
                <a:latin typeface="Times New Roman" panose="02020603050405020304" pitchFamily="18" charset="0"/>
                <a:cs typeface="Times New Roman" panose="02020603050405020304" pitchFamily="18" charset="0"/>
              </a:rPr>
              <a:t>overall performance</a:t>
            </a:r>
            <a:r>
              <a:rPr lang="en-US" sz="2200" dirty="0">
                <a:latin typeface="Times New Roman" panose="02020603050405020304" pitchFamily="18" charset="0"/>
                <a:cs typeface="Times New Roman" panose="02020603050405020304" pitchFamily="18" charset="0"/>
              </a:rPr>
              <a:t>, but not enough when data is imbalanced.</a:t>
            </a:r>
          </a:p>
          <a:p>
            <a:pPr marL="457200" indent="-457200" algn="just">
              <a:buAutoNum type="arabicPeriod" startAt="2"/>
            </a:pPr>
            <a:r>
              <a:rPr lang="en-IN" sz="2200" b="1" dirty="0">
                <a:latin typeface="Times New Roman" panose="02020603050405020304" pitchFamily="18" charset="0"/>
                <a:cs typeface="Times New Roman" panose="02020603050405020304" pitchFamily="18" charset="0"/>
              </a:rPr>
              <a:t>Precision</a:t>
            </a:r>
          </a:p>
          <a:p>
            <a:pPr algn="just"/>
            <a:r>
              <a:rPr lang="en-US" sz="2200" dirty="0">
                <a:latin typeface="Times New Roman" panose="02020603050405020304" pitchFamily="18" charset="0"/>
                <a:cs typeface="Times New Roman" panose="02020603050405020304" pitchFamily="18" charset="0"/>
              </a:rPr>
              <a:t>Out of all predicted “Disease” cases, how many were actually correct?</a:t>
            </a:r>
          </a:p>
          <a:p>
            <a:pPr algn="just"/>
            <a:r>
              <a:rPr lang="en-US" sz="2200" dirty="0">
                <a:latin typeface="Times New Roman" panose="02020603050405020304" pitchFamily="18" charset="0"/>
                <a:cs typeface="Times New Roman" panose="02020603050405020304" pitchFamily="18" charset="0"/>
              </a:rPr>
              <a:t>Reduces unnecessary alarms for healthy patients.</a:t>
            </a:r>
          </a:p>
          <a:p>
            <a:pPr marL="457200" indent="-457200" algn="just">
              <a:buAutoNum type="arabicPeriod" startAt="3"/>
            </a:pPr>
            <a:r>
              <a:rPr lang="en-IN" sz="2200" b="1" dirty="0">
                <a:latin typeface="Times New Roman" panose="02020603050405020304" pitchFamily="18" charset="0"/>
                <a:cs typeface="Times New Roman" panose="02020603050405020304" pitchFamily="18" charset="0"/>
              </a:rPr>
              <a:t>Recall</a:t>
            </a:r>
          </a:p>
          <a:p>
            <a:pPr algn="just"/>
            <a:r>
              <a:rPr lang="en-US" sz="2200" dirty="0">
                <a:latin typeface="Times New Roman" panose="02020603050405020304" pitchFamily="18" charset="0"/>
                <a:cs typeface="Times New Roman" panose="02020603050405020304" pitchFamily="18" charset="0"/>
              </a:rPr>
              <a:t>Out of all actual “Disease” cases, how many did the model correctly identify?</a:t>
            </a:r>
          </a:p>
          <a:p>
            <a:pPr algn="just"/>
            <a:r>
              <a:rPr lang="en-US" sz="2200" dirty="0">
                <a:latin typeface="Times New Roman" panose="02020603050405020304" pitchFamily="18" charset="0"/>
                <a:cs typeface="Times New Roman" panose="02020603050405020304" pitchFamily="18" charset="0"/>
              </a:rPr>
              <a:t>Very important in medical diagnosis—missing a patient with disease (FN) can be dangerous.</a:t>
            </a:r>
          </a:p>
          <a:p>
            <a:pPr marL="0" indent="0" algn="just">
              <a:buNone/>
            </a:pPr>
            <a:endParaRPr lang="en-US" sz="2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D274922-584F-B2A2-291B-EF20EB36EDA3}"/>
              </a:ext>
            </a:extLst>
          </p:cNvPr>
          <p:cNvPicPr>
            <a:picLocks noChangeAspect="1"/>
          </p:cNvPicPr>
          <p:nvPr/>
        </p:nvPicPr>
        <p:blipFill>
          <a:blip r:embed="rId2"/>
          <a:stretch>
            <a:fillRect/>
          </a:stretch>
        </p:blipFill>
        <p:spPr>
          <a:xfrm>
            <a:off x="148743" y="292643"/>
            <a:ext cx="3761558" cy="566977"/>
          </a:xfrm>
          <a:prstGeom prst="rect">
            <a:avLst/>
          </a:prstGeom>
        </p:spPr>
      </p:pic>
    </p:spTree>
    <p:extLst>
      <p:ext uri="{BB962C8B-B14F-4D97-AF65-F5344CB8AC3E}">
        <p14:creationId xmlns:p14="http://schemas.microsoft.com/office/powerpoint/2010/main" val="3053121581"/>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87705D-BE92-6C7C-0118-972DF10AD2AB}"/>
              </a:ext>
            </a:extLst>
          </p:cNvPr>
          <p:cNvSpPr>
            <a:spLocks noGrp="1"/>
          </p:cNvSpPr>
          <p:nvPr>
            <p:ph idx="1"/>
          </p:nvPr>
        </p:nvSpPr>
        <p:spPr>
          <a:xfrm>
            <a:off x="628650" y="1037063"/>
            <a:ext cx="7886700" cy="5139900"/>
          </a:xfrm>
        </p:spPr>
        <p:txBody>
          <a:bodyPr/>
          <a:lstStyle/>
          <a:p>
            <a:pPr marL="0" indent="0" algn="just">
              <a:buNone/>
            </a:pPr>
            <a:r>
              <a:rPr lang="en-IN" sz="2400" b="1" dirty="0">
                <a:latin typeface="Times New Roman" panose="02020603050405020304" pitchFamily="18" charset="0"/>
                <a:cs typeface="Times New Roman" panose="02020603050405020304" pitchFamily="18" charset="0"/>
              </a:rPr>
              <a:t>4.   F1-Score</a:t>
            </a:r>
          </a:p>
          <a:p>
            <a:pPr algn="just"/>
            <a:r>
              <a:rPr lang="en-US" sz="2400" dirty="0">
                <a:latin typeface="Times New Roman" panose="02020603050405020304" pitchFamily="18" charset="0"/>
                <a:cs typeface="Times New Roman" panose="02020603050405020304" pitchFamily="18" charset="0"/>
              </a:rPr>
              <a:t>Harmonic mean of Precision and Recall.</a:t>
            </a:r>
          </a:p>
          <a:p>
            <a:pPr algn="just"/>
            <a:r>
              <a:rPr lang="en-US" sz="2400" dirty="0">
                <a:latin typeface="Times New Roman" panose="02020603050405020304" pitchFamily="18" charset="0"/>
                <a:cs typeface="Times New Roman" panose="02020603050405020304" pitchFamily="18" charset="0"/>
              </a:rPr>
              <a:t>Ensures the model performs well on both classes, not biased toward any class.</a:t>
            </a:r>
          </a:p>
          <a:p>
            <a:pPr marL="0" indent="0" algn="just">
              <a:buNone/>
            </a:pPr>
            <a:endParaRPr lang="en-US" dirty="0"/>
          </a:p>
        </p:txBody>
      </p:sp>
      <p:pic>
        <p:nvPicPr>
          <p:cNvPr id="4" name="Picture 3">
            <a:extLst>
              <a:ext uri="{FF2B5EF4-FFF2-40B4-BE49-F238E27FC236}">
                <a16:creationId xmlns:a16="http://schemas.microsoft.com/office/drawing/2014/main" id="{849A5433-31C5-15D0-A1A5-4C2A62103CF3}"/>
              </a:ext>
            </a:extLst>
          </p:cNvPr>
          <p:cNvPicPr>
            <a:picLocks noChangeAspect="1"/>
          </p:cNvPicPr>
          <p:nvPr/>
        </p:nvPicPr>
        <p:blipFill>
          <a:blip r:embed="rId2"/>
          <a:stretch>
            <a:fillRect/>
          </a:stretch>
        </p:blipFill>
        <p:spPr>
          <a:xfrm>
            <a:off x="215650" y="268496"/>
            <a:ext cx="3761558" cy="566977"/>
          </a:xfrm>
          <a:prstGeom prst="rect">
            <a:avLst/>
          </a:prstGeom>
        </p:spPr>
      </p:pic>
      <p:graphicFrame>
        <p:nvGraphicFramePr>
          <p:cNvPr id="7" name="Table 6">
            <a:extLst>
              <a:ext uri="{FF2B5EF4-FFF2-40B4-BE49-F238E27FC236}">
                <a16:creationId xmlns:a16="http://schemas.microsoft.com/office/drawing/2014/main" id="{9F26792F-0421-A7A1-DA29-25DF25A42D5B}"/>
              </a:ext>
            </a:extLst>
          </p:cNvPr>
          <p:cNvGraphicFramePr>
            <a:graphicFrameLocks noGrp="1"/>
          </p:cNvGraphicFramePr>
          <p:nvPr>
            <p:extLst>
              <p:ext uri="{D42A27DB-BD31-4B8C-83A1-F6EECF244321}">
                <p14:modId xmlns:p14="http://schemas.microsoft.com/office/powerpoint/2010/main" val="3609193721"/>
              </p:ext>
            </p:extLst>
          </p:nvPr>
        </p:nvGraphicFramePr>
        <p:xfrm>
          <a:off x="1524000" y="2694940"/>
          <a:ext cx="6096000" cy="29667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140171332"/>
                    </a:ext>
                  </a:extLst>
                </a:gridCol>
                <a:gridCol w="3048000">
                  <a:extLst>
                    <a:ext uri="{9D8B030D-6E8A-4147-A177-3AD203B41FA5}">
                      <a16:colId xmlns:a16="http://schemas.microsoft.com/office/drawing/2014/main" val="158110062"/>
                    </a:ext>
                  </a:extLst>
                </a:gridCol>
              </a:tblGrid>
              <a:tr h="370840">
                <a:tc>
                  <a:txBody>
                    <a:bodyPr/>
                    <a:lstStyle/>
                    <a:p>
                      <a:r>
                        <a:rPr lang="en-US" dirty="0"/>
                        <a:t>Metric</a:t>
                      </a:r>
                      <a:endParaRPr lang="en-IN" dirty="0"/>
                    </a:p>
                  </a:txBody>
                  <a:tcPr/>
                </a:tc>
                <a:tc>
                  <a:txBody>
                    <a:bodyPr/>
                    <a:lstStyle/>
                    <a:p>
                      <a:r>
                        <a:rPr lang="en-US" dirty="0"/>
                        <a:t>Value</a:t>
                      </a:r>
                      <a:endParaRPr lang="en-IN" dirty="0"/>
                    </a:p>
                  </a:txBody>
                  <a:tcPr/>
                </a:tc>
                <a:extLst>
                  <a:ext uri="{0D108BD9-81ED-4DB2-BD59-A6C34878D82A}">
                    <a16:rowId xmlns:a16="http://schemas.microsoft.com/office/drawing/2014/main" val="41813630"/>
                  </a:ext>
                </a:extLst>
              </a:tr>
              <a:tr h="370840">
                <a:tc>
                  <a:txBody>
                    <a:bodyPr/>
                    <a:lstStyle/>
                    <a:p>
                      <a:r>
                        <a:rPr lang="en-US" dirty="0"/>
                        <a:t>Accuracy</a:t>
                      </a:r>
                      <a:endParaRPr lang="en-IN" dirty="0"/>
                    </a:p>
                  </a:txBody>
                  <a:tcPr/>
                </a:tc>
                <a:tc>
                  <a:txBody>
                    <a:bodyPr/>
                    <a:lstStyle/>
                    <a:p>
                      <a:r>
                        <a:rPr lang="en-US" dirty="0"/>
                        <a:t>94.7%</a:t>
                      </a:r>
                      <a:endParaRPr lang="en-IN" dirty="0"/>
                    </a:p>
                  </a:txBody>
                  <a:tcPr/>
                </a:tc>
                <a:extLst>
                  <a:ext uri="{0D108BD9-81ED-4DB2-BD59-A6C34878D82A}">
                    <a16:rowId xmlns:a16="http://schemas.microsoft.com/office/drawing/2014/main" val="2678752709"/>
                  </a:ext>
                </a:extLst>
              </a:tr>
              <a:tr h="370840">
                <a:tc>
                  <a:txBody>
                    <a:bodyPr/>
                    <a:lstStyle/>
                    <a:p>
                      <a:r>
                        <a:rPr lang="en-US" dirty="0"/>
                        <a:t>Precision(Class 0)</a:t>
                      </a:r>
                    </a:p>
                  </a:txBody>
                  <a:tcPr/>
                </a:tc>
                <a:tc>
                  <a:txBody>
                    <a:bodyPr/>
                    <a:lstStyle/>
                    <a:p>
                      <a:r>
                        <a:rPr lang="en-US" dirty="0"/>
                        <a:t>0.94</a:t>
                      </a:r>
                      <a:endParaRPr lang="en-IN" dirty="0"/>
                    </a:p>
                  </a:txBody>
                  <a:tcPr/>
                </a:tc>
                <a:extLst>
                  <a:ext uri="{0D108BD9-81ED-4DB2-BD59-A6C34878D82A}">
                    <a16:rowId xmlns:a16="http://schemas.microsoft.com/office/drawing/2014/main" val="2967373477"/>
                  </a:ext>
                </a:extLst>
              </a:tr>
              <a:tr h="370840">
                <a:tc>
                  <a:txBody>
                    <a:bodyPr/>
                    <a:lstStyle/>
                    <a:p>
                      <a:r>
                        <a:rPr lang="en-US" dirty="0"/>
                        <a:t>Precision(Class 1</a:t>
                      </a:r>
                      <a:endParaRPr lang="en-IN" dirty="0"/>
                    </a:p>
                  </a:txBody>
                  <a:tcPr/>
                </a:tc>
                <a:tc>
                  <a:txBody>
                    <a:bodyPr/>
                    <a:lstStyle/>
                    <a:p>
                      <a:r>
                        <a:rPr lang="en-US" dirty="0"/>
                        <a:t>0.95</a:t>
                      </a:r>
                      <a:endParaRPr lang="en-IN" dirty="0"/>
                    </a:p>
                  </a:txBody>
                  <a:tcPr/>
                </a:tc>
                <a:extLst>
                  <a:ext uri="{0D108BD9-81ED-4DB2-BD59-A6C34878D82A}">
                    <a16:rowId xmlns:a16="http://schemas.microsoft.com/office/drawing/2014/main" val="2920012926"/>
                  </a:ext>
                </a:extLst>
              </a:tr>
              <a:tr h="370840">
                <a:tc>
                  <a:txBody>
                    <a:bodyPr/>
                    <a:lstStyle/>
                    <a:p>
                      <a:r>
                        <a:rPr lang="en-US" dirty="0"/>
                        <a:t>Recall (Class 0)</a:t>
                      </a:r>
                      <a:endParaRPr lang="en-IN" dirty="0"/>
                    </a:p>
                  </a:txBody>
                  <a:tcPr/>
                </a:tc>
                <a:tc>
                  <a:txBody>
                    <a:bodyPr/>
                    <a:lstStyle/>
                    <a:p>
                      <a:r>
                        <a:rPr lang="en-US" dirty="0"/>
                        <a:t>0.94</a:t>
                      </a:r>
                      <a:endParaRPr lang="en-IN" dirty="0"/>
                    </a:p>
                  </a:txBody>
                  <a:tcPr/>
                </a:tc>
                <a:extLst>
                  <a:ext uri="{0D108BD9-81ED-4DB2-BD59-A6C34878D82A}">
                    <a16:rowId xmlns:a16="http://schemas.microsoft.com/office/drawing/2014/main" val="3828829099"/>
                  </a:ext>
                </a:extLst>
              </a:tr>
              <a:tr h="370840">
                <a:tc>
                  <a:txBody>
                    <a:bodyPr/>
                    <a:lstStyle/>
                    <a:p>
                      <a:r>
                        <a:rPr lang="en-US" dirty="0"/>
                        <a:t>Recall (Class 1)</a:t>
                      </a:r>
                      <a:endParaRPr lang="en-IN" dirty="0"/>
                    </a:p>
                  </a:txBody>
                  <a:tcPr/>
                </a:tc>
                <a:tc>
                  <a:txBody>
                    <a:bodyPr/>
                    <a:lstStyle/>
                    <a:p>
                      <a:r>
                        <a:rPr lang="en-US" dirty="0"/>
                        <a:t>0.95</a:t>
                      </a:r>
                      <a:endParaRPr lang="en-IN" dirty="0"/>
                    </a:p>
                  </a:txBody>
                  <a:tcPr/>
                </a:tc>
                <a:extLst>
                  <a:ext uri="{0D108BD9-81ED-4DB2-BD59-A6C34878D82A}">
                    <a16:rowId xmlns:a16="http://schemas.microsoft.com/office/drawing/2014/main" val="1368722880"/>
                  </a:ext>
                </a:extLst>
              </a:tr>
              <a:tr h="370840">
                <a:tc>
                  <a:txBody>
                    <a:bodyPr/>
                    <a:lstStyle/>
                    <a:p>
                      <a:r>
                        <a:rPr lang="en-US" dirty="0"/>
                        <a:t>F1-Score (Class 0)</a:t>
                      </a:r>
                      <a:endParaRPr lang="en-IN" dirty="0"/>
                    </a:p>
                  </a:txBody>
                  <a:tcPr/>
                </a:tc>
                <a:tc>
                  <a:txBody>
                    <a:bodyPr/>
                    <a:lstStyle/>
                    <a:p>
                      <a:r>
                        <a:rPr lang="en-US" dirty="0"/>
                        <a:t>0.94</a:t>
                      </a:r>
                      <a:endParaRPr lang="en-IN" dirty="0"/>
                    </a:p>
                  </a:txBody>
                  <a:tcPr/>
                </a:tc>
                <a:extLst>
                  <a:ext uri="{0D108BD9-81ED-4DB2-BD59-A6C34878D82A}">
                    <a16:rowId xmlns:a16="http://schemas.microsoft.com/office/drawing/2014/main" val="1031762696"/>
                  </a:ext>
                </a:extLst>
              </a:tr>
              <a:tr h="370840">
                <a:tc>
                  <a:txBody>
                    <a:bodyPr/>
                    <a:lstStyle/>
                    <a:p>
                      <a:r>
                        <a:rPr lang="en-US" dirty="0"/>
                        <a:t>F1-Score (Class 1)</a:t>
                      </a:r>
                      <a:endParaRPr lang="en-IN" dirty="0"/>
                    </a:p>
                  </a:txBody>
                  <a:tcPr/>
                </a:tc>
                <a:tc>
                  <a:txBody>
                    <a:bodyPr/>
                    <a:lstStyle/>
                    <a:p>
                      <a:r>
                        <a:rPr lang="en-US" dirty="0"/>
                        <a:t>0.95</a:t>
                      </a:r>
                      <a:endParaRPr lang="en-IN" dirty="0"/>
                    </a:p>
                  </a:txBody>
                  <a:tcPr/>
                </a:tc>
                <a:extLst>
                  <a:ext uri="{0D108BD9-81ED-4DB2-BD59-A6C34878D82A}">
                    <a16:rowId xmlns:a16="http://schemas.microsoft.com/office/drawing/2014/main" val="66491000"/>
                  </a:ext>
                </a:extLst>
              </a:tr>
            </a:tbl>
          </a:graphicData>
        </a:graphic>
      </p:graphicFrame>
    </p:spTree>
    <p:extLst>
      <p:ext uri="{BB962C8B-B14F-4D97-AF65-F5344CB8AC3E}">
        <p14:creationId xmlns:p14="http://schemas.microsoft.com/office/powerpoint/2010/main" val="4141528725"/>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79FC1-8C24-1DDC-9564-D112D6312F48}"/>
              </a:ext>
            </a:extLst>
          </p:cNvPr>
          <p:cNvSpPr>
            <a:spLocks noGrp="1"/>
          </p:cNvSpPr>
          <p:nvPr>
            <p:ph type="title"/>
          </p:nvPr>
        </p:nvSpPr>
        <p:spPr>
          <a:xfrm>
            <a:off x="2270637" y="769528"/>
            <a:ext cx="5546008" cy="1019943"/>
          </a:xfrm>
        </p:spPr>
        <p:txBody>
          <a:bodyPr>
            <a:normAutofit fontScale="90000"/>
          </a:bodyPr>
          <a:lstStyle/>
          <a:p>
            <a:r>
              <a:rPr lang="en-IN" sz="2800" b="1" dirty="0">
                <a:latin typeface="Times New Roman" panose="02020603050405020304" pitchFamily="18" charset="0"/>
                <a:cs typeface="Times New Roman" panose="02020603050405020304" pitchFamily="18" charset="0"/>
              </a:rPr>
              <a:t>CONCLUSION &amp; FUTURE SCOPE</a:t>
            </a:r>
            <a:br>
              <a:rPr lang="en-IN" sz="2800" b="1" dirty="0"/>
            </a:br>
            <a:endParaRPr lang="en-IN"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18A2A21-1C84-4973-2FCB-3400BFA8F35D}"/>
              </a:ext>
            </a:extLst>
          </p:cNvPr>
          <p:cNvSpPr>
            <a:spLocks noGrp="1"/>
          </p:cNvSpPr>
          <p:nvPr>
            <p:ph idx="1"/>
          </p:nvPr>
        </p:nvSpPr>
        <p:spPr>
          <a:xfrm>
            <a:off x="628650" y="1482029"/>
            <a:ext cx="7886700" cy="4977428"/>
          </a:xfrm>
        </p:spPr>
        <p:txBody>
          <a:bodyPr>
            <a:normAutofit lnSpcReduction="10000"/>
          </a:bodyPr>
          <a:lstStyle/>
          <a:p>
            <a:r>
              <a:rPr lang="en-US" sz="2400" dirty="0">
                <a:latin typeface="Times New Roman" panose="02020603050405020304" pitchFamily="18" charset="0"/>
                <a:cs typeface="Times New Roman" panose="02020603050405020304" pitchFamily="18" charset="0"/>
              </a:rPr>
              <a:t>Hybrid BiLSTM + HREF model delivers high accuracy and reliable performance.</a:t>
            </a:r>
          </a:p>
          <a:p>
            <a:r>
              <a:rPr lang="en-US" sz="2400" dirty="0">
                <a:latin typeface="Times New Roman" panose="02020603050405020304" pitchFamily="18" charset="0"/>
                <a:cs typeface="Times New Roman" panose="02020603050405020304" pitchFamily="18" charset="0"/>
              </a:rPr>
              <a:t>Strong preprocessing (outlier removal, normalization, SMOTEENN) improves data quality.</a:t>
            </a:r>
          </a:p>
          <a:p>
            <a:r>
              <a:rPr lang="en-US" sz="2400" dirty="0">
                <a:latin typeface="Times New Roman" panose="02020603050405020304" pitchFamily="18" charset="0"/>
                <a:cs typeface="Times New Roman" panose="02020603050405020304" pitchFamily="18" charset="0"/>
              </a:rPr>
              <a:t>Very low false positives and false negatives, making it suitable for medical diagnosis.</a:t>
            </a:r>
          </a:p>
          <a:p>
            <a:r>
              <a:rPr lang="en-US" sz="2400" b="1" dirty="0">
                <a:latin typeface="Times New Roman" panose="02020603050405020304" pitchFamily="18" charset="0"/>
                <a:cs typeface="Times New Roman" panose="02020603050405020304" pitchFamily="18" charset="0"/>
              </a:rPr>
              <a:t>Future Scope:</a:t>
            </a:r>
          </a:p>
          <a:p>
            <a:r>
              <a:rPr lang="en-US" sz="2400" dirty="0">
                <a:latin typeface="Times New Roman" panose="02020603050405020304" pitchFamily="18" charset="0"/>
                <a:cs typeface="Times New Roman" panose="02020603050405020304" pitchFamily="18" charset="0"/>
              </a:rPr>
              <a:t>Extend the model to larger, real-world clinical datasets for better generalization.</a:t>
            </a:r>
          </a:p>
          <a:p>
            <a:r>
              <a:rPr lang="en-US" sz="2400" dirty="0">
                <a:latin typeface="Times New Roman" panose="02020603050405020304" pitchFamily="18" charset="0"/>
                <a:cs typeface="Times New Roman" panose="02020603050405020304" pitchFamily="18" charset="0"/>
              </a:rPr>
              <a:t>Implement advanced architectures like Transformers and Attention models.</a:t>
            </a:r>
          </a:p>
          <a:p>
            <a:r>
              <a:rPr lang="en-US" sz="2400" dirty="0">
                <a:latin typeface="Times New Roman" panose="02020603050405020304" pitchFamily="18" charset="0"/>
                <a:cs typeface="Times New Roman" panose="02020603050405020304" pitchFamily="18" charset="0"/>
              </a:rPr>
              <a:t>Deploy the system as a web or mobile application for practical clinical use.</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6D23825-266D-8267-BDBC-F7E588BE0566}"/>
              </a:ext>
            </a:extLst>
          </p:cNvPr>
          <p:cNvPicPr>
            <a:picLocks noChangeAspect="1"/>
          </p:cNvPicPr>
          <p:nvPr/>
        </p:nvPicPr>
        <p:blipFill>
          <a:blip r:embed="rId2"/>
          <a:stretch>
            <a:fillRect/>
          </a:stretch>
        </p:blipFill>
        <p:spPr>
          <a:xfrm>
            <a:off x="282317" y="219604"/>
            <a:ext cx="3761558" cy="566977"/>
          </a:xfrm>
          <a:prstGeom prst="rect">
            <a:avLst/>
          </a:prstGeom>
        </p:spPr>
      </p:pic>
    </p:spTree>
    <p:extLst>
      <p:ext uri="{BB962C8B-B14F-4D97-AF65-F5344CB8AC3E}">
        <p14:creationId xmlns:p14="http://schemas.microsoft.com/office/powerpoint/2010/main" val="2569124850"/>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9447B-29B7-DFEB-D2AA-14DE9FCEC3E9}"/>
              </a:ext>
            </a:extLst>
          </p:cNvPr>
          <p:cNvSpPr>
            <a:spLocks noGrp="1"/>
          </p:cNvSpPr>
          <p:nvPr>
            <p:ph type="title"/>
          </p:nvPr>
        </p:nvSpPr>
        <p:spPr>
          <a:xfrm>
            <a:off x="4159045" y="411981"/>
            <a:ext cx="2655324" cy="578771"/>
          </a:xfrm>
        </p:spPr>
        <p:txBody>
          <a:bodyPr>
            <a:normAutofit/>
          </a:bodyPr>
          <a:lstStyle/>
          <a:p>
            <a:r>
              <a:rPr lang="en-IN" sz="2800"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31944838-1808-7D60-6DB9-8F44F812706B}"/>
              </a:ext>
            </a:extLst>
          </p:cNvPr>
          <p:cNvSpPr>
            <a:spLocks noGrp="1"/>
          </p:cNvSpPr>
          <p:nvPr>
            <p:ph idx="1"/>
          </p:nvPr>
        </p:nvSpPr>
        <p:spPr>
          <a:xfrm>
            <a:off x="628649" y="1052052"/>
            <a:ext cx="8240047" cy="5388077"/>
          </a:xfrm>
        </p:spPr>
        <p:txBody>
          <a:bodyPr>
            <a:noAutofit/>
          </a:bodyPr>
          <a:lstStyle/>
          <a:p>
            <a:r>
              <a:rPr lang="en-IN" sz="2000" dirty="0">
                <a:latin typeface="Times New Roman" panose="02020603050405020304" pitchFamily="18" charset="0"/>
                <a:cs typeface="Times New Roman" panose="02020603050405020304" pitchFamily="18" charset="0"/>
              </a:rPr>
              <a:t>N. S. Alghamdi, R. Alqahtani, M. Alhassan, and A. Alghamdi, “Predicting heart disease using a hybrid autoencoder-dense net model,” International Journal of Intelligent Engineering and Systems, vol. 17, no. 3, pp. 55–63, 2024.</a:t>
            </a:r>
          </a:p>
          <a:p>
            <a:r>
              <a:rPr lang="en-IN" sz="2000" dirty="0">
                <a:latin typeface="Times New Roman" panose="02020603050405020304" pitchFamily="18" charset="0"/>
                <a:cs typeface="Times New Roman" panose="02020603050405020304" pitchFamily="18" charset="0"/>
              </a:rPr>
              <a:t>J. J. Gabriel and L. J. Anbarasi, “Optimized feature selection and hyperparameter tuned lightgbm for cardiovascular disease detection,” Biomedical Signal Processing and Control, vol. 92, p. 105120, 2024.</a:t>
            </a:r>
          </a:p>
          <a:p>
            <a:r>
              <a:rPr lang="en-US" sz="2000" dirty="0">
                <a:latin typeface="Times New Roman" panose="02020603050405020304" pitchFamily="18" charset="0"/>
                <a:cs typeface="Times New Roman" panose="02020603050405020304" pitchFamily="18" charset="0"/>
              </a:rPr>
              <a:t>S. Moturi, S. N. T. Rao, and S. Vemuru, “Optimized feature extraction and hybrid classification model for heart disease and breast cancer prediction,” International Journal of Recent Tech nology and Engineering, 2019.</a:t>
            </a:r>
          </a:p>
          <a:p>
            <a:r>
              <a:rPr lang="en-IN" sz="2000" dirty="0">
                <a:latin typeface="Times New Roman" panose="02020603050405020304" pitchFamily="18" charset="0"/>
                <a:cs typeface="Times New Roman" panose="02020603050405020304" pitchFamily="18" charset="0"/>
              </a:rPr>
              <a:t>K. V. N. Reddy, Y. Narendra, M. A. N. Reddy, A. Ramu, D. V. Reddy, and S. Moturi, “Automated traffic sign recognition via cnn deep learning,” in 2025 IEEE International Conference on Interdisciplinary Approaches in Technology and Management for Social Innovation (IATMSI). Gwalior, India: IEEE, 2025, pp. 1–6.</a:t>
            </a:r>
          </a:p>
          <a:p>
            <a:r>
              <a:rPr lang="en-IN" sz="2000" dirty="0">
                <a:latin typeface="Times New Roman" panose="02020603050405020304" pitchFamily="18" charset="0"/>
                <a:cs typeface="Times New Roman" panose="02020603050405020304" pitchFamily="18" charset="0"/>
              </a:rPr>
              <a:t>S. N. T. Rao et al., “Fake profile detection using machine learning,” in Proceedings of the 2025 IEEE International Conference on Interdisciplinary Approaches in Technology and Management for Social Innovation (IATMSI). Gwalior, India: IEEE, 2025, pp. 1–6.</a:t>
            </a:r>
          </a:p>
        </p:txBody>
      </p:sp>
      <p:pic>
        <p:nvPicPr>
          <p:cNvPr id="4" name="Picture 3">
            <a:extLst>
              <a:ext uri="{FF2B5EF4-FFF2-40B4-BE49-F238E27FC236}">
                <a16:creationId xmlns:a16="http://schemas.microsoft.com/office/drawing/2014/main" id="{FE3F6B5C-2880-1BD5-5595-52620BD633CD}"/>
              </a:ext>
            </a:extLst>
          </p:cNvPr>
          <p:cNvPicPr>
            <a:picLocks noChangeAspect="1"/>
          </p:cNvPicPr>
          <p:nvPr/>
        </p:nvPicPr>
        <p:blipFill>
          <a:blip r:embed="rId2"/>
          <a:stretch>
            <a:fillRect/>
          </a:stretch>
        </p:blipFill>
        <p:spPr>
          <a:xfrm>
            <a:off x="233157" y="180428"/>
            <a:ext cx="3761558" cy="566977"/>
          </a:xfrm>
          <a:prstGeom prst="rect">
            <a:avLst/>
          </a:prstGeom>
        </p:spPr>
      </p:pic>
    </p:spTree>
    <p:extLst>
      <p:ext uri="{BB962C8B-B14F-4D97-AF65-F5344CB8AC3E}">
        <p14:creationId xmlns:p14="http://schemas.microsoft.com/office/powerpoint/2010/main" val="2238971105"/>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90E34AD-AD21-C875-A7F9-7D2A8A0F925F}"/>
              </a:ext>
            </a:extLst>
          </p:cNvPr>
          <p:cNvSpPr/>
          <p:nvPr/>
        </p:nvSpPr>
        <p:spPr>
          <a:xfrm>
            <a:off x="2884963" y="2682200"/>
            <a:ext cx="3629712" cy="923330"/>
          </a:xfrm>
          <a:prstGeom prst="rect">
            <a:avLst/>
          </a:prstGeom>
          <a:noFill/>
        </p:spPr>
        <p:txBody>
          <a:bodyPr wrap="none" lIns="91440" tIns="45720" rIns="91440" bIns="45720">
            <a:spAutoFit/>
          </a:bodyPr>
          <a:lstStyle/>
          <a:p>
            <a:pPr algn="ctr"/>
            <a:r>
              <a:rPr lang="en-US" sz="5400" b="1" i="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THANK YOU</a:t>
            </a:r>
            <a:endParaRPr lang="en-IN"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2910404480"/>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514</TotalTime>
  <Words>2615</Words>
  <Application>Microsoft Office PowerPoint</Application>
  <PresentationFormat>On-screen Show (4:3)</PresentationFormat>
  <Paragraphs>313</Paragraphs>
  <Slides>32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Calibri Light</vt:lpstr>
      <vt:lpstr>Times New Roman</vt:lpstr>
      <vt:lpstr>Office Theme</vt:lpstr>
      <vt:lpstr>PowerPoint Presentation</vt:lpstr>
      <vt:lpstr>INDEX</vt:lpstr>
      <vt:lpstr>ABSTRACT</vt:lpstr>
      <vt:lpstr>INTRODUCTION</vt:lpstr>
      <vt:lpstr>LITERATURE SURVEY</vt:lpstr>
      <vt:lpstr>RESEARCH GAPS</vt:lpstr>
      <vt:lpstr>PROBLEM STATEMENT</vt:lpstr>
      <vt:lpstr>OBJECTIVES</vt:lpstr>
      <vt:lpstr>BLOCK DIAGRAM / FLOW DIAGRAM</vt:lpstr>
      <vt:lpstr>METHODOLOGY</vt:lpstr>
      <vt:lpstr>PREPROCESSING STEPS:</vt:lpstr>
      <vt:lpstr>Missing Value Imputation </vt:lpstr>
      <vt:lpstr>Normalization</vt:lpstr>
      <vt:lpstr>Encoding</vt:lpstr>
      <vt:lpstr>Class Balancing</vt:lpstr>
      <vt:lpstr>Algorithms </vt:lpstr>
      <vt:lpstr>Random Forest (RF)</vt:lpstr>
      <vt:lpstr>AdaBoost (Adaptive Boosting)</vt:lpstr>
      <vt:lpstr>Support Vector Machine (SVM)</vt:lpstr>
      <vt:lpstr>Hybrid Refined Ensemble Framework (HREF)</vt:lpstr>
      <vt:lpstr>IMPLEMENTATION</vt:lpstr>
      <vt:lpstr>Hardware Specifications</vt:lpstr>
      <vt:lpstr>How the Project Was Implemented</vt:lpstr>
      <vt:lpstr>Challenges Faced &amp; How They Were Overcome</vt:lpstr>
      <vt:lpstr>RESULTS &amp; ANALYSIS</vt:lpstr>
      <vt:lpstr>CONFUSION MATRIX</vt:lpstr>
      <vt:lpstr>ROC-AUC</vt:lpstr>
      <vt:lpstr>EVALUTION MATRIX</vt:lpstr>
      <vt:lpstr>PowerPoint Presentation</vt:lpstr>
      <vt:lpstr>CONCLUSION &amp; FUTURE SCOPE </vt:lpstr>
      <vt:lpstr>REFERENCES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Hybrid Deep Learning Strategy for Real-Time Assembly Task Recognition</dc:title>
  <dc:subject/>
  <dc:creator>Administrator</dc:creator>
  <cp:keywords/>
  <dc:description>generated using python-pptx</dc:description>
  <cp:lastModifiedBy>m. srilakshmi</cp:lastModifiedBy>
  <cp:revision>14</cp:revision>
  <dcterms:created xsi:type="dcterms:W3CDTF">2013-01-27T09:14:16Z</dcterms:created>
  <dcterms:modified xsi:type="dcterms:W3CDTF">2025-11-11T09:33:25Z</dcterms:modified>
  <cp:category/>
</cp:coreProperties>
</file>